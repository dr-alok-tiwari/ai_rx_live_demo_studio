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146a0d22e94a14" /><Relationship Type="http://schemas.openxmlformats.org/officeDocument/2006/relationships/extended-properties" Target="/docProps/app.xml" Id="Ra28070d3523345a5" /><Relationship Type="http://schemas.openxmlformats.org/officeDocument/2006/relationships/officeDocument" Target="/ppt/presentation.xml" Id="Reeecdfcd14ce4f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f2630daeee4b0a"/>
  </p:sldMasterIdLst>
  <p:notesMasterIdLst>
    <p:notesMasterId xmlns:r="http://schemas.openxmlformats.org/officeDocument/2006/relationships" r:id="R0c995e18daf04353"/>
  </p:notesMasterIdLst>
  <p:sldIdLst>
    <p:sldId xmlns:r="http://schemas.openxmlformats.org/officeDocument/2006/relationships" id="256" r:id="Ra05ba66577634d62"/>
    <p:sldId xmlns:r="http://schemas.openxmlformats.org/officeDocument/2006/relationships" id="257" r:id="R78571f5a0de5496c"/>
    <p:sldId xmlns:r="http://schemas.openxmlformats.org/officeDocument/2006/relationships" id="258" r:id="Rfb79f28cd6e34be7"/>
    <p:sldId xmlns:r="http://schemas.openxmlformats.org/officeDocument/2006/relationships" id="259" r:id="R2ca1e76f49264e9d"/>
    <p:sldId xmlns:r="http://schemas.openxmlformats.org/officeDocument/2006/relationships" id="260" r:id="Rbed6468f048e49d4"/>
    <p:sldId xmlns:r="http://schemas.openxmlformats.org/officeDocument/2006/relationships" id="261" r:id="R5572e840b0c04fd0"/>
    <p:sldId xmlns:r="http://schemas.openxmlformats.org/officeDocument/2006/relationships" id="262" r:id="Ree29d435c22b4b4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ef2e2616b444c5" /><Relationship Type="http://schemas.openxmlformats.org/officeDocument/2006/relationships/slideMaster" Target="/ppt/slideMasters/slideMaster1.xml" Id="R5af2630daeee4b0a" /><Relationship Type="http://schemas.openxmlformats.org/officeDocument/2006/relationships/notesMaster" Target="/ppt/notesMasters/notesMaster1.xml" Id="R0c995e18daf04353" /><Relationship Type="http://schemas.openxmlformats.org/officeDocument/2006/relationships/presProps" Target="/ppt/presProps.xml" Id="Re47420c0ec1e457c" /><Relationship Type="http://schemas.openxmlformats.org/officeDocument/2006/relationships/tableStyles" Target="/ppt/tableStyles.xml" Id="R5442e768c7ae4f62" /><Relationship Type="http://schemas.openxmlformats.org/officeDocument/2006/relationships/slide" Target="/ppt/slides/slide1.xml" Id="Ra05ba66577634d62" /><Relationship Type="http://schemas.openxmlformats.org/officeDocument/2006/relationships/slide" Target="/ppt/slides/slide2.xml" Id="R78571f5a0de5496c" /><Relationship Type="http://schemas.openxmlformats.org/officeDocument/2006/relationships/slide" Target="/ppt/slides/slide3.xml" Id="Rfb79f28cd6e34be7" /><Relationship Type="http://schemas.openxmlformats.org/officeDocument/2006/relationships/slide" Target="/ppt/slides/slide4.xml" Id="R2ca1e76f49264e9d" /><Relationship Type="http://schemas.openxmlformats.org/officeDocument/2006/relationships/slide" Target="/ppt/slides/slide5.xml" Id="Rbed6468f048e49d4" /><Relationship Type="http://schemas.openxmlformats.org/officeDocument/2006/relationships/slide" Target="/ppt/slides/slide6.xml" Id="R5572e840b0c04fd0" /><Relationship Type="http://schemas.openxmlformats.org/officeDocument/2006/relationships/slide" Target="/ppt/slides/slide7.xml" Id="Ree29d435c22b4b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f6d93f2f9f49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4f4fa53cac4182" /><Relationship Type="http://schemas.openxmlformats.org/officeDocument/2006/relationships/notesMaster" Target="/ppt/notesMasters/notesMaster1.xml" Id="R250ef1d4f88d47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24ed9336cc4ab9" /><Relationship Type="http://schemas.openxmlformats.org/officeDocument/2006/relationships/notesMaster" Target="/ppt/notesMasters/notesMaster1.xml" Id="R6ad30e1878de49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dfc92624504472" /><Relationship Type="http://schemas.openxmlformats.org/officeDocument/2006/relationships/notesMaster" Target="/ppt/notesMasters/notesMaster1.xml" Id="R3a1bf00135da4c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8f737583c34b16" /><Relationship Type="http://schemas.openxmlformats.org/officeDocument/2006/relationships/notesMaster" Target="/ppt/notesMasters/notesMaster1.xml" Id="R303eff4dbb0949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4799003be1458a" /><Relationship Type="http://schemas.openxmlformats.org/officeDocument/2006/relationships/notesMaster" Target="/ppt/notesMasters/notesMaster1.xml" Id="R6759a0109b0148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1091cb87e94bc3" /><Relationship Type="http://schemas.openxmlformats.org/officeDocument/2006/relationships/notesMaster" Target="/ppt/notesMasters/notesMaster1.xml" Id="R9da080a481ec47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0fed414d374d61" /><Relationship Type="http://schemas.openxmlformats.org/officeDocument/2006/relationships/notesMaster" Target="/ppt/notesMasters/notesMaster1.xml" Id="R3fb0a77803fd45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short deck as the participant take-home recap. It is intentionally concise and mirrors the app navigation.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Rx Live Demo Studio, project-authored workshop 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sequence to decide whether AI belongs in the workflow at all. If the patient need and decision question are unclear, do not begin with a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Rx Live Demo Studio, project-authored workshop 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library’s prompts are deliberately detailed. Read the full prompt in one view and keep its safeguards intact. Do not paste patient identifiers into unapproved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Rx Live Demo Studio, project-authored workshop 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purpose of comparison is not to score the doctor against the model. It is to expose hidden assumptions and make tacit clinical knowledge teachable.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Rx Live Demo Studio, project-authored workshop 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six checks for documentation, research, diagnosis support and patient communication. The clinician remains accountable for validation and follow-up.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Rx Live Demo Studio, project-authored workshop 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not legal advice. It reinforces the boundary between educational material and real patient consent processes.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Rx Live Demo Studio, project-authored workshop 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small, testable action. Encourage participants to use synthetic data first and document what the model added, missed and left uncertain.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Rx Live Demo Studio, project-authored workshop 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6d96fea99b41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ce37443c07425e" /><Relationship Type="http://schemas.openxmlformats.org/officeDocument/2006/relationships/slideLayout" Target="/ppt/slideLayouts/slideLayout1.xml" Id="Rb1c32d488a7248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c32d488a7248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a21295ba449e1" /><Relationship Type="http://schemas.openxmlformats.org/officeDocument/2006/relationships/image" Target="/ppt/media/image.png" Id="Rac8995cf76e247c9" /><Relationship Type="http://schemas.openxmlformats.org/officeDocument/2006/relationships/notesSlide" Target="/ppt/notesSlides/notesSlide1.xml" Id="Rf5d672ee59c742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c039a2021486e" /><Relationship Type="http://schemas.openxmlformats.org/officeDocument/2006/relationships/notesSlide" Target="/ppt/notesSlides/notesSlide2.xml" Id="Rf3d875b0aa734c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f520f65344ba3" /><Relationship Type="http://schemas.openxmlformats.org/officeDocument/2006/relationships/notesSlide" Target="/ppt/notesSlides/notesSlide3.xml" Id="Ref970d5031734f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82ed9238e4440" /><Relationship Type="http://schemas.openxmlformats.org/officeDocument/2006/relationships/notesSlide" Target="/ppt/notesSlides/notesSlide4.xml" Id="R546eea02d4b14b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36d72d8124457" /><Relationship Type="http://schemas.openxmlformats.org/officeDocument/2006/relationships/notesSlide" Target="/ppt/notesSlides/notesSlide5.xml" Id="R7575f7cb740142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897adbdd94f84" /><Relationship Type="http://schemas.openxmlformats.org/officeDocument/2006/relationships/notesSlide" Target="/ppt/notesSlides/notesSlide6.xml" Id="R5f20a046592b44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3fe02acdf4900" /><Relationship Type="http://schemas.openxmlformats.org/officeDocument/2006/relationships/image" Target="/ppt/media/image2.png" Id="Re2d0d592f86444d1" /><Relationship Type="http://schemas.openxmlformats.org/officeDocument/2006/relationships/notesSlide" Target="/ppt/notesSlides/notesSlide7.xml" Id="R765028fb62814ae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995cf76e247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B4AA0-C250-414E-A471-DCE83694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7627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4452A-0526-46AA-9DE0-D970DC9B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BBF24"/>
                </a:solidFill>
              </a:defRPr>
            </a:pPr>
            <a:r>
              <a:rPr sz="1125" b="1" i="0">
                <a:solidFill>
                  <a:srgbClr val="FBBF24"/>
                </a:solidFill>
              </a:rPr>
              <a:t>AI RX · CLINICAL PRACTICE &amp; PATIENT 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A3489-5283-46DC-9723-DD622CD4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381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125" b="1" i="0">
                <a:solidFill>
                  <a:srgbClr val="FFF7E6"/>
                </a:solidFill>
              </a:defRPr>
            </a:pPr>
            <a:r>
              <a:rPr sz="4125" b="1" i="0">
                <a:solidFill>
                  <a:srgbClr val="FFF7E6"/>
                </a:solidFill>
              </a:rPr>
              <a:t>AI Rx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63840-B3FC-4146-B017-BD9D5871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DDEFEF"/>
                </a:solidFill>
              </a:defRPr>
            </a:pPr>
            <a:r>
              <a:rPr sz="1875" b="0" i="0">
                <a:solidFill>
                  <a:srgbClr val="DDEFEF"/>
                </a:solidFill>
              </a:rPr>
              <a:t>AI tools for clinical practice and patient care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F4CA7-30C9-4FE1-BDE7-F66D5BF2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F8E28-268F-4D56-9E8F-21A4DC47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B45309"/>
                </a:solidFill>
              </a:defRPr>
            </a:pPr>
            <a:r>
              <a:rPr sz="900" b="1" i="0">
                <a:solidFill>
                  <a:srgbClr val="B45309"/>
                </a:solidFill>
              </a:rPr>
              <a:t>PARTICIPANT RECAP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67BA9-40EA-46F0-B46F-300E71CD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572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EA46B-F6BC-417E-B34F-014A84D9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38775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7E6"/>
                </a:solidFill>
              </a:defRPr>
            </a:pPr>
            <a:r>
              <a:rPr sz="1650" b="1" i="0">
                <a:solidFill>
                  <a:srgbClr val="FFF7E6"/>
                </a:solidFill>
              </a:rPr>
              <a:t>Seven slides to take back to practice · Copy-ready prompts and patient-centred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15375814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C41AA0-1ECD-46E0-8AEA-D870334A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65C20-615B-4CD8-A35A-3F93ADF9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45309"/>
                </a:solidFill>
              </a:defRPr>
            </a:pPr>
            <a:r>
              <a:rPr sz="975" b="1" i="0">
                <a:solidFill>
                  <a:srgbClr val="B45309"/>
                </a:solidFill>
              </a:rPr>
              <a:t>RULE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524E1-3EB8-42A2-A12B-EA331BAF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02A33"/>
                </a:solidFill>
              </a:defRPr>
            </a:pPr>
            <a:r>
              <a:rPr sz="2700" b="1" i="0">
                <a:solidFill>
                  <a:srgbClr val="102A33"/>
                </a:solidFill>
              </a:rPr>
              <a:t>Start with the patient—not the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D4B63-A3D9-42DB-8711-16C89F3C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857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59E0B"/>
                </a:solidFill>
              </a:defRPr>
            </a:pPr>
            <a:r>
              <a:rPr sz="1500" b="1" i="0">
                <a:solidFill>
                  <a:srgbClr val="F59E0B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EFAC8-27E1-4312-BBEB-1405D17B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62125"/>
            <a:ext cx="9906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D2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012E1-F6D2-4C19-82C5-94BE6362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62200"/>
            <a:ext cx="895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FFF7E6"/>
                </a:solidFill>
              </a:defRPr>
            </a:pPr>
            <a:r>
              <a:rPr sz="2475" b="1" i="0">
                <a:solidFill>
                  <a:srgbClr val="FFF7E6"/>
                </a:solidFill>
              </a:rPr>
              <a:t>Patient need → Specialty context → Evidence → AI support → Doctor judgment → Patient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05CEF-A4B4-4BED-9AC2-4985A461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76750"/>
            <a:ext cx="4953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FF784-43E6-4FA7-B910-691327F6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533900"/>
            <a:ext cx="472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AI IS A SUPPORTING STEP · NOT THE NORTH STAR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BAF04-4466-4A01-A60C-5ABFC8BA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51158-9257-4C3E-8B5F-E6721C1C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47636B"/>
                </a:solidFill>
              </a:defRPr>
            </a:pPr>
            <a:r>
              <a:rPr sz="750" b="1" i="0">
                <a:solidFill>
                  <a:srgbClr val="47636B"/>
                </a:solidFill>
              </a:rPr>
              <a:t>AI Rx · Participant recap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1C2EA-7825-45A6-8318-83ADD3A0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47636B"/>
                </a:solidFill>
              </a:defRPr>
            </a:pPr>
            <a:r>
              <a:rPr sz="750" b="0" i="0">
                <a:solidFill>
                  <a:srgbClr val="47636B"/>
                </a:solidFill>
              </a:rPr>
              <a:t>Workshop material · Not clinical advice</a:t>
            </a:r>
          </a:p>
        </p:txBody>
      </p:sp>
    </p:spTree>
    <p:extLst>
      <p:ext uri="{BB962C8B-B14F-4D97-AF65-F5344CB8AC3E}">
        <p14:creationId xmlns:p14="http://schemas.microsoft.com/office/powerpoint/2010/main" val="16649505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581075-39E7-438A-8BB3-773D44F2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D8AFA-1236-4047-B28F-928130B5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45309"/>
                </a:solidFill>
              </a:defRPr>
            </a:pPr>
            <a:r>
              <a:rPr sz="975" b="1" i="0">
                <a:solidFill>
                  <a:srgbClr val="B45309"/>
                </a:solidFill>
              </a:rPr>
              <a:t>RULE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D343C-1017-430E-AEFD-61793924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02A33"/>
                </a:solidFill>
              </a:defRPr>
            </a:pPr>
            <a:r>
              <a:rPr sz="2700" b="1" i="0">
                <a:solidFill>
                  <a:srgbClr val="102A33"/>
                </a:solidFill>
              </a:rPr>
              <a:t>Use the full prompt exactly as supplied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32FFB-7F53-494E-AEA9-708AA427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857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59E0B"/>
                </a:solidFill>
              </a:defRPr>
            </a:pPr>
            <a:r>
              <a:rPr sz="1500" b="1" i="0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0858E-2A4F-431E-8904-150ED540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5143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0D2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4B00F-5925-42D2-BA4D-B44813D7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BBF24"/>
                </a:solidFill>
              </a:defRPr>
            </a:pPr>
            <a:r>
              <a:rPr sz="1275" b="1" i="0">
                <a:solidFill>
                  <a:srgbClr val="FBBF24"/>
                </a:solidFill>
              </a:rPr>
              <a:t>COPY → PASTE → REPLACE FIELDS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64AC5-C081-4B67-8A4D-C201522A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4267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7E6"/>
                </a:solidFill>
              </a:defRPr>
            </a:pPr>
            <a:r>
              <a:rPr sz="2100" b="1" i="0">
                <a:solidFill>
                  <a:srgbClr val="FFF7E6"/>
                </a:solidFill>
              </a:rPr>
              <a:t>The visible prompt already contains role, context, uncertainty, output structure and safety boundaries.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0E150-00DC-40C6-9CA5-79230E99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71625"/>
            <a:ext cx="47434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721AC-A063-4FC8-B964-DC2E4E01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02A33"/>
                </a:solidFill>
              </a:defRPr>
            </a:pPr>
            <a:r>
              <a:rPr sz="1800" b="1" i="0">
                <a:solidFill>
                  <a:srgbClr val="102A33"/>
                </a:solidFill>
              </a:rPr>
              <a:t>Replace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D09FE-1F0A-4B61-8763-EC6EEA06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3810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47636B"/>
                </a:solidFill>
              </a:defRPr>
            </a:pPr>
            <a:r>
              <a:rPr sz="1650" b="0" i="0">
                <a:solidFill>
                  <a:srgbClr val="47636B"/>
                </a:solidFill>
              </a:rPr>
              <a:t>• Patient details</a:t>
            </a:r>
          </a:p>
          <a:p xmlns:a="http://schemas.openxmlformats.org/drawingml/2006/main">
            <a:pPr>
              <a:defRPr sz="1650" b="0" i="0">
                <a:solidFill>
                  <a:srgbClr val="47636B"/>
                </a:solidFill>
              </a:defRPr>
            </a:pPr>
            <a:r>
              <a:rPr sz="1650" b="0" i="0">
                <a:solidFill>
                  <a:srgbClr val="47636B"/>
                </a:solidFill>
              </a:rPr>
              <a:t>• Source date + series</a:t>
            </a:r>
          </a:p>
          <a:p xmlns:a="http://schemas.openxmlformats.org/drawingml/2006/main">
            <a:pPr>
              <a:defRPr sz="1650" b="0" i="0">
                <a:solidFill>
                  <a:srgbClr val="47636B"/>
                </a:solidFill>
              </a:defRPr>
            </a:pPr>
            <a:r>
              <a:rPr sz="1650" b="0" i="0">
                <a:solidFill>
                  <a:srgbClr val="47636B"/>
                </a:solidFill>
              </a:rPr>
              <a:t>• Procedure information</a:t>
            </a:r>
          </a:p>
          <a:p xmlns:a="http://schemas.openxmlformats.org/drawingml/2006/main">
            <a:pPr>
              <a:defRPr sz="1650" b="0" i="0">
                <a:solidFill>
                  <a:srgbClr val="47636B"/>
                </a:solidFill>
              </a:defRPr>
            </a:pPr>
            <a:r>
              <a:rPr sz="1650" b="0" i="0">
                <a:solidFill>
                  <a:srgbClr val="47636B"/>
                </a:solidFill>
              </a:rPr>
              <a:t>• Decision question</a:t>
            </a:r>
          </a:p>
          <a:p xmlns:a="http://schemas.openxmlformats.org/drawingml/2006/main">
            <a:pPr>
              <a:defRPr sz="1650" b="0" i="0">
                <a:solidFill>
                  <a:srgbClr val="47636B"/>
                </a:solidFill>
              </a:defRPr>
            </a:pPr>
            <a:r>
              <a:rPr sz="1650" b="0" i="0">
                <a:solidFill>
                  <a:srgbClr val="47636B"/>
                </a:solidFill>
              </a:rPr>
              <a:t>• Material to analyse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0EF5F-7E44-4480-9843-B52BDC01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18452-923C-46A7-BD8B-7CDB555A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47636B"/>
                </a:solidFill>
              </a:defRPr>
            </a:pPr>
            <a:r>
              <a:rPr sz="750" b="1" i="0">
                <a:solidFill>
                  <a:srgbClr val="47636B"/>
                </a:solidFill>
              </a:rPr>
              <a:t>AI Rx · Participant 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06C1D-4829-437C-95F3-FBFA91DD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47636B"/>
                </a:solidFill>
              </a:defRPr>
            </a:pPr>
            <a:r>
              <a:rPr sz="750" b="0" i="0">
                <a:solidFill>
                  <a:srgbClr val="47636B"/>
                </a:solidFill>
              </a:rPr>
              <a:t>Workshop material · Not clinical advice</a:t>
            </a:r>
          </a:p>
        </p:txBody>
      </p:sp>
    </p:spTree>
    <p:extLst>
      <p:ext uri="{BB962C8B-B14F-4D97-AF65-F5344CB8AC3E}">
        <p14:creationId xmlns:p14="http://schemas.microsoft.com/office/powerpoint/2010/main" val="7058616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F7A008-27EB-4FDC-930D-8A6E3E9E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63922-989E-465F-8533-601E50DF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45309"/>
                </a:solidFill>
              </a:defRPr>
            </a:pPr>
            <a:r>
              <a:rPr sz="975" b="1" i="0">
                <a:solidFill>
                  <a:srgbClr val="B45309"/>
                </a:solidFill>
              </a:rPr>
              <a:t>RULE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F4814-C90F-4265-8CFF-1EBFE984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02A33"/>
                </a:solidFill>
              </a:defRPr>
            </a:pPr>
            <a:r>
              <a:rPr sz="2700" b="1" i="0">
                <a:solidFill>
                  <a:srgbClr val="102A33"/>
                </a:solidFill>
              </a:rPr>
              <a:t>Compare AI output with clinical judgment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F097B-AF84-4C16-8906-010B77B1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857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59E0B"/>
                </a:solidFill>
              </a:defRPr>
            </a:pPr>
            <a:r>
              <a:rPr sz="1500" b="1" i="0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6718C-B3E1-4FEF-8A65-2A7F0032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4857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CC196-7BA9-401E-B2C7-E3AF3DDD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B45309"/>
                </a:solidFill>
              </a:defRPr>
            </a:pPr>
            <a:r>
              <a:rPr sz="1800" b="1" i="0">
                <a:solidFill>
                  <a:srgbClr val="B45309"/>
                </a:solidFill>
              </a:rPr>
              <a:t>AI perceived diagnosis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DF30B-B897-4C85-94E7-747448A9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1462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02A33"/>
                </a:solidFill>
              </a:defRPr>
            </a:pPr>
            <a:r>
              <a:rPr sz="1650" b="0" i="0">
                <a:solidFill>
                  <a:srgbClr val="102A33"/>
                </a:solidFill>
              </a:rPr>
              <a:t>What pattern did the model recognise?</a:t>
            </a:r>
          </a:p>
          <a:p xmlns:a="http://schemas.openxmlformats.org/drawingml/2006/main">
            <a:pPr>
              <a:defRPr sz="1650" b="0" i="0">
                <a:solidFill>
                  <a:srgbClr val="102A33"/>
                </a:solidFill>
              </a:defRPr>
            </a:pPr>
            <a:r>
              <a:rPr sz="1650" b="0" i="0">
                <a:solidFill>
                  <a:srgbClr val="102A33"/>
                </a:solidFill>
              </a:rPr>
              <a:t>What did it omit?</a:t>
            </a:r>
          </a:p>
          <a:p xmlns:a="http://schemas.openxmlformats.org/drawingml/2006/main">
            <a:pPr>
              <a:defRPr sz="1650" b="0" i="0">
                <a:solidFill>
                  <a:srgbClr val="102A33"/>
                </a:solidFill>
              </a:defRPr>
            </a:pPr>
            <a:r>
              <a:rPr sz="1650" b="0" i="0">
                <a:solidFill>
                  <a:srgbClr val="102A33"/>
                </a:solidFill>
              </a:rPr>
              <a:t>How confident did it sound?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D0A4B-072A-4CAF-9302-2240CFE5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95450"/>
            <a:ext cx="4857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C5E70-19C4-409F-8AD1-B08A48E1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002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BBF24"/>
                </a:solidFill>
              </a:defRPr>
            </a:pPr>
            <a:r>
              <a:rPr sz="1800" b="1" i="0">
                <a:solidFill>
                  <a:srgbClr val="FBBF24"/>
                </a:solidFill>
              </a:rPr>
              <a:t>Doctor’s actual diagnosis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770BE-11B0-4F2B-8EEC-A2BA542D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1462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FFF7E6"/>
                </a:solidFill>
              </a:defRPr>
            </a:pPr>
            <a:r>
              <a:rPr sz="1650" b="0" i="0">
                <a:solidFill>
                  <a:srgbClr val="FFF7E6"/>
                </a:solidFill>
              </a:rPr>
              <a:t>Which trajectory or tacit cue changed the interpretation?</a:t>
            </a:r>
          </a:p>
          <a:p xmlns:a="http://schemas.openxmlformats.org/drawingml/2006/main">
            <a:pPr>
              <a:defRPr sz="1650" b="0" i="0">
                <a:solidFill>
                  <a:srgbClr val="FFF7E6"/>
                </a:solidFill>
              </a:defRPr>
            </a:pPr>
            <a:r>
              <a:rPr sz="1650" b="0" i="0">
                <a:solidFill>
                  <a:srgbClr val="FFF7E6"/>
                </a:solidFill>
              </a:rPr>
              <a:t>What action follows?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545AF-11B4-4A83-9716-A341A2C1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38750"/>
            <a:ext cx="4191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CB4F0-518D-4B35-8104-5F41662D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295900"/>
            <a:ext cx="396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THE DIFFERENCE IS THE LEARNING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A8DF2-9B2D-4431-A75B-FA0901F2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315D69-D64E-40C8-8478-2D1FB23A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47636B"/>
                </a:solidFill>
              </a:defRPr>
            </a:pPr>
            <a:r>
              <a:rPr sz="750" b="1" i="0">
                <a:solidFill>
                  <a:srgbClr val="47636B"/>
                </a:solidFill>
              </a:rPr>
              <a:t>AI Rx · Participant recap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B5843-AD00-4D9D-9141-2A380C65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47636B"/>
                </a:solidFill>
              </a:defRPr>
            </a:pPr>
            <a:r>
              <a:rPr sz="750" b="0" i="0">
                <a:solidFill>
                  <a:srgbClr val="47636B"/>
                </a:solidFill>
              </a:rPr>
              <a:t>Workshop material · Not clinical advice</a:t>
            </a:r>
          </a:p>
        </p:txBody>
      </p:sp>
    </p:spTree>
    <p:extLst>
      <p:ext uri="{BB962C8B-B14F-4D97-AF65-F5344CB8AC3E}">
        <p14:creationId xmlns:p14="http://schemas.microsoft.com/office/powerpoint/2010/main" val="4490994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9E8C76-6443-4060-AD73-FCC750BE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65779-D1E9-413B-8519-A3B7D97E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45309"/>
                </a:solidFill>
              </a:defRPr>
            </a:pPr>
            <a:r>
              <a:rPr sz="975" b="1" i="0">
                <a:solidFill>
                  <a:srgbClr val="B45309"/>
                </a:solidFill>
              </a:rPr>
              <a:t>RULE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C1595-8BF3-4E2C-82A3-F552FB46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02A33"/>
                </a:solidFill>
              </a:defRPr>
            </a:pPr>
            <a:r>
              <a:rPr sz="2700" b="1" i="0">
                <a:solidFill>
                  <a:srgbClr val="102A33"/>
                </a:solidFill>
              </a:rPr>
              <a:t>Run six checks before acting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8DEF6-E3B6-4594-B723-82E4714A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857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59E0B"/>
                </a:solidFill>
              </a:defRPr>
            </a:pPr>
            <a:r>
              <a:rPr sz="1500" b="1" i="0">
                <a:solidFill>
                  <a:srgbClr val="F59E0B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38ACF-3C85-42ED-A905-AC1267C7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18380-C1DF-4832-8354-33F2C0C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59E0B"/>
                </a:solidFill>
              </a:defRPr>
            </a:pPr>
            <a:r>
              <a:rPr sz="1650" b="1" i="0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552C7-968D-4E8D-B5A5-A88C6935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050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02A33"/>
                </a:solidFill>
              </a:defRPr>
            </a:pPr>
            <a:r>
              <a:rPr sz="1650" b="1" i="0">
                <a:solidFill>
                  <a:srgbClr val="102A33"/>
                </a:solidFill>
              </a:rPr>
              <a:t>Decision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7B23B-DD76-4DD2-9345-0779D725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95450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B132E-C6AA-4307-AFDF-9037D4AD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66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59E0B"/>
                </a:solidFill>
              </a:defRPr>
            </a:pPr>
            <a:r>
              <a:rPr sz="1650" b="1" i="0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C818E-573F-4D9D-86E4-041746A1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050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02A33"/>
                </a:solidFill>
              </a:defRPr>
            </a:pPr>
            <a:r>
              <a:rPr sz="1650" b="1" i="0">
                <a:solidFill>
                  <a:srgbClr val="102A33"/>
                </a:solidFill>
              </a:rPr>
              <a:t>Data 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8C295-9C66-4093-945A-E775A2F1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FF939C-3294-436E-A690-27B51A5F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66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59E0B"/>
                </a:solidFill>
              </a:defRPr>
            </a:pPr>
            <a:r>
              <a:rPr sz="1650" b="1" i="0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74A108-11CB-4BB5-B2CD-E1B8A89B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050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02A33"/>
                </a:solidFill>
              </a:defRPr>
            </a:pPr>
            <a:r>
              <a:rPr sz="1650" b="1" i="0">
                <a:solidFill>
                  <a:srgbClr val="102A33"/>
                </a:solidFill>
              </a:rPr>
              <a:t>Plausible options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7D98E-946D-468B-B9E6-DA5904E6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F9677-04D2-4DB9-818C-CC47B0B3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59E0B"/>
                </a:solidFill>
              </a:defRPr>
            </a:pPr>
            <a:r>
              <a:rPr sz="1650" b="1" i="0">
                <a:solidFill>
                  <a:srgbClr val="F59E0B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3F1AD-62FA-4819-B93B-0C92A83C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385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02A33"/>
                </a:solidFill>
              </a:defRPr>
            </a:pPr>
            <a:r>
              <a:rPr sz="1650" b="1" i="0">
                <a:solidFill>
                  <a:srgbClr val="102A33"/>
                </a:solidFill>
              </a:rPr>
              <a:t>Uncertainty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EF851-7910-4556-AE85-6F68F458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29000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976CCB-00C8-4B3B-8C15-D1CC5C3A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59E0B"/>
                </a:solidFill>
              </a:defRPr>
            </a:pPr>
            <a:r>
              <a:rPr sz="1650" b="1" i="0">
                <a:solidFill>
                  <a:srgbClr val="F59E0B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771FBC-0CC3-4D35-B520-B9F25D3D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02A33"/>
                </a:solidFill>
              </a:defRPr>
            </a:pPr>
            <a:r>
              <a:rPr sz="1650" b="1" i="0">
                <a:solidFill>
                  <a:srgbClr val="102A33"/>
                </a:solidFill>
              </a:rPr>
              <a:t>Safe next 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E2AED7-2718-4487-9D58-ACDD5178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29000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D2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ED0A97-7832-4C8C-9D39-4DF2E949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00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BBF24"/>
                </a:solidFill>
              </a:defRPr>
            </a:pPr>
            <a:r>
              <a:rPr sz="1650" b="1" i="0">
                <a:solidFill>
                  <a:srgbClr val="FBBF24"/>
                </a:solidFill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122649-2FE9-4551-9575-970332BC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385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7E6"/>
                </a:solidFill>
              </a:defRPr>
            </a:pPr>
            <a:r>
              <a:rPr sz="1650" b="1" i="0">
                <a:solidFill>
                  <a:srgbClr val="FFF7E6"/>
                </a:solidFill>
              </a:rPr>
              <a:t>Human ownership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4ABA2E-B4C7-42A0-8695-0EBF2441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334000"/>
            <a:ext cx="4267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02C8A3-03D9-4E7A-A1F8-585A0486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391150"/>
            <a:ext cx="403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IF OWNERSHIP IS UNCLEAR, DO NOT 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7302A2-F45F-4037-9A25-10F5931D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6F2516-1FE0-438E-A7B2-1C8DC7DB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47636B"/>
                </a:solidFill>
              </a:defRPr>
            </a:pPr>
            <a:r>
              <a:rPr sz="750" b="1" i="0">
                <a:solidFill>
                  <a:srgbClr val="47636B"/>
                </a:solidFill>
              </a:rPr>
              <a:t>AI Rx · Participant recap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351322-01B4-4B01-BFB3-105992B4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47636B"/>
                </a:solidFill>
              </a:defRPr>
            </a:pPr>
            <a:r>
              <a:rPr sz="750" b="0" i="0">
                <a:solidFill>
                  <a:srgbClr val="47636B"/>
                </a:solidFill>
              </a:rPr>
              <a:t>Workshop material · Not clinical advice</a:t>
            </a:r>
          </a:p>
        </p:txBody>
      </p:sp>
    </p:spTree>
    <p:extLst>
      <p:ext uri="{BB962C8B-B14F-4D97-AF65-F5344CB8AC3E}">
        <p14:creationId xmlns:p14="http://schemas.microsoft.com/office/powerpoint/2010/main" val="5571515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820DCF-FC5F-49DB-B7EC-D7503E4C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75A90-04C6-4D42-9FD0-6BC035B4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45309"/>
                </a:solidFill>
              </a:defRPr>
            </a:pPr>
            <a:r>
              <a:rPr sz="975" b="1" i="0">
                <a:solidFill>
                  <a:srgbClr val="B45309"/>
                </a:solidFill>
              </a:rPr>
              <a:t>RULE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7ABA7-AC13-4215-BA08-92D46D15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02A33"/>
                </a:solidFill>
              </a:defRPr>
            </a:pPr>
            <a:r>
              <a:rPr sz="2700" b="1" i="0">
                <a:solidFill>
                  <a:srgbClr val="102A33"/>
                </a:solidFill>
              </a:rPr>
              <a:t>Keep consent guidance light and safe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07723-3DA0-4CA3-9A40-DE8AE2F5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857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59E0B"/>
                </a:solidFill>
              </a:defRPr>
            </a:pPr>
            <a:r>
              <a:rPr sz="1500" b="1" i="0">
                <a:solidFill>
                  <a:srgbClr val="F59E0B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D6F9E-1175-42A3-8374-D0A86A71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94869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078CA-1338-42C0-8E4E-9B32AE9C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955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45309"/>
                </a:solidFill>
              </a:defRPr>
            </a:pPr>
            <a:r>
              <a:rPr sz="1350" b="1" i="0">
                <a:solidFill>
                  <a:srgbClr val="B45309"/>
                </a:solidFill>
              </a:rPr>
              <a:t>LITERATURE-ONLY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D28B4-976A-41B9-80BC-7AABFABD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62250"/>
            <a:ext cx="8286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02A33"/>
                </a:solidFill>
              </a:defRPr>
            </a:pPr>
            <a:r>
              <a:rPr sz="2100" b="1" i="0">
                <a:solidFill>
                  <a:srgbClr val="102A33"/>
                </a:solidFill>
              </a:rPr>
              <a:t>Use published guidance and institution-approved templates. Do not upload patient identifiers, real consent records or case-specific legal material.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627C3-0807-40B9-9321-FA8A90E1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95875"/>
            <a:ext cx="61341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27F14-BEAA-4A85-AA4B-16EEAFD1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530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7E6"/>
                </a:solidFill>
              </a:defRPr>
            </a:pPr>
            <a:r>
              <a:rPr sz="975" b="1" i="0">
                <a:solidFill>
                  <a:srgbClr val="FFF7E6"/>
                </a:solidFill>
              </a:rPr>
              <a:t>SYNTHETIC CASES FOR TEACHING · LOCAL POLICY FOR PRACTICE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27E9A-4ABD-4C17-ACEB-1426992C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49738-8B4D-4D69-ABFB-CF37C1E1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47636B"/>
                </a:solidFill>
              </a:defRPr>
            </a:pPr>
            <a:r>
              <a:rPr sz="750" b="1" i="0">
                <a:solidFill>
                  <a:srgbClr val="47636B"/>
                </a:solidFill>
              </a:rPr>
              <a:t>AI Rx · Participant recap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43946-605D-4042-8763-8F186941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47636B"/>
                </a:solidFill>
              </a:defRPr>
            </a:pPr>
            <a:r>
              <a:rPr sz="750" b="0" i="0">
                <a:solidFill>
                  <a:srgbClr val="47636B"/>
                </a:solidFill>
              </a:rPr>
              <a:t>Workshop material · Not clinical advice</a:t>
            </a:r>
          </a:p>
        </p:txBody>
      </p:sp>
    </p:spTree>
    <p:extLst>
      <p:ext uri="{BB962C8B-B14F-4D97-AF65-F5344CB8AC3E}">
        <p14:creationId xmlns:p14="http://schemas.microsoft.com/office/powerpoint/2010/main" val="89511682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0d592f86444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8C949-9E3C-4794-AABB-B9ADEA80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7627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D33D6-65CE-4B4B-8998-ED2860EB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BBF24"/>
                </a:solidFill>
              </a:defRPr>
            </a:pPr>
            <a:r>
              <a:rPr sz="1125" b="1" i="0">
                <a:solidFill>
                  <a:srgbClr val="FBBF24"/>
                </a:solidFill>
              </a:rPr>
              <a:t>AI RX · CLINICAL PRACTICE &amp; PATIENT 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3DB93-8E5E-4DBF-BD89-962CE365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381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125" b="1" i="0">
                <a:solidFill>
                  <a:srgbClr val="FFF7E6"/>
                </a:solidFill>
              </a:defRPr>
            </a:pPr>
            <a:r>
              <a:rPr sz="4125" b="1" i="0">
                <a:solidFill>
                  <a:srgbClr val="FFF7E6"/>
                </a:solidFill>
              </a:rPr>
              <a:t>AI Rx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F4FA5-F8D9-4EAE-861B-AB08F25A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DDEFEF"/>
                </a:solidFill>
              </a:defRPr>
            </a:pPr>
            <a:r>
              <a:rPr sz="1875" b="0" i="0">
                <a:solidFill>
                  <a:srgbClr val="DDEFEF"/>
                </a:solidFill>
              </a:rPr>
              <a:t>AI tools for clinical practice and patient care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7AAC9-6F1B-41F1-90F1-0E99A7C2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7EFE1-AC7A-4D63-A226-16AD8D04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B45309"/>
                </a:solidFill>
              </a:defRPr>
            </a:pPr>
            <a:r>
              <a:rPr sz="900" b="1" i="0">
                <a:solidFill>
                  <a:srgbClr val="B45309"/>
                </a:solidFill>
              </a:rPr>
              <a:t>YOUR NEXT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94FC8-A96C-423B-B386-58ED7A62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572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6BB78-704E-418F-8E27-59399A8B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38775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7E6"/>
                </a:solidFill>
              </a:defRPr>
            </a:pPr>
            <a:r>
              <a:rPr sz="1650" b="1" i="0">
                <a:solidFill>
                  <a:srgbClr val="FFF7E6"/>
                </a:solidFill>
              </a:rPr>
              <a:t>Choose one specialty case. Copy one complete prompt. Compare one AI answer with a doctor’s judgment.</a:t>
            </a:r>
          </a:p>
        </p:txBody>
      </p:sp>
    </p:spTree>
    <p:extLst>
      <p:ext uri="{BB962C8B-B14F-4D97-AF65-F5344CB8AC3E}">
        <p14:creationId xmlns:p14="http://schemas.microsoft.com/office/powerpoint/2010/main" val="938708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2026-08-03T10:57:22.2090000Z</dcterms:created>
  <dcterms:modified xsi:type="dcterms:W3CDTF">2026-08-03T10:57:22.2090000Z</dcterms:modified>
</coreProperties>
</file>