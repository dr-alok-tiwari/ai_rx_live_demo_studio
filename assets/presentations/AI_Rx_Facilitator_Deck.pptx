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97aa106fc849d0" /><Relationship Type="http://schemas.openxmlformats.org/officeDocument/2006/relationships/extended-properties" Target="/docProps/app.xml" Id="Rc716bd320967442c" /><Relationship Type="http://schemas.openxmlformats.org/officeDocument/2006/relationships/officeDocument" Target="/ppt/presentation.xml" Id="Rb2de73d4d0bd49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1e1681b4e649b6"/>
  </p:sldMasterIdLst>
  <p:notesMasterIdLst>
    <p:notesMasterId xmlns:r="http://schemas.openxmlformats.org/officeDocument/2006/relationships" r:id="Rd6f3049c2c49405b"/>
  </p:notesMasterIdLst>
  <p:sldIdLst>
    <p:sldId xmlns:r="http://schemas.openxmlformats.org/officeDocument/2006/relationships" id="256" r:id="R2f46fcb883394d80"/>
    <p:sldId xmlns:r="http://schemas.openxmlformats.org/officeDocument/2006/relationships" id="257" r:id="Rac67a90542b5432f"/>
    <p:sldId xmlns:r="http://schemas.openxmlformats.org/officeDocument/2006/relationships" id="258" r:id="Rd42a5d39569344da"/>
    <p:sldId xmlns:r="http://schemas.openxmlformats.org/officeDocument/2006/relationships" id="259" r:id="R62215cb38bc34942"/>
    <p:sldId xmlns:r="http://schemas.openxmlformats.org/officeDocument/2006/relationships" id="260" r:id="R45903db3ef19474c"/>
    <p:sldId xmlns:r="http://schemas.openxmlformats.org/officeDocument/2006/relationships" id="261" r:id="R42dbbca099204322"/>
    <p:sldId xmlns:r="http://schemas.openxmlformats.org/officeDocument/2006/relationships" id="262" r:id="R649dae363ef246c4"/>
    <p:sldId xmlns:r="http://schemas.openxmlformats.org/officeDocument/2006/relationships" id="263" r:id="Rad64d73d5edc4a68"/>
    <p:sldId xmlns:r="http://schemas.openxmlformats.org/officeDocument/2006/relationships" id="264" r:id="R4a13b926093f4c1b"/>
    <p:sldId xmlns:r="http://schemas.openxmlformats.org/officeDocument/2006/relationships" id="265" r:id="R1f4395e80849464c"/>
    <p:sldId xmlns:r="http://schemas.openxmlformats.org/officeDocument/2006/relationships" id="266" r:id="Rb0fde296f5ad4324"/>
    <p:sldId xmlns:r="http://schemas.openxmlformats.org/officeDocument/2006/relationships" id="267" r:id="R920c99311fe54858"/>
    <p:sldId xmlns:r="http://schemas.openxmlformats.org/officeDocument/2006/relationships" id="268" r:id="R1d3a40d16d6f48d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621cbe29f14834" /><Relationship Type="http://schemas.openxmlformats.org/officeDocument/2006/relationships/slideMaster" Target="/ppt/slideMasters/slideMaster1.xml" Id="R4e1e1681b4e649b6" /><Relationship Type="http://schemas.openxmlformats.org/officeDocument/2006/relationships/notesMaster" Target="/ppt/notesMasters/notesMaster1.xml" Id="Rd6f3049c2c49405b" /><Relationship Type="http://schemas.openxmlformats.org/officeDocument/2006/relationships/presProps" Target="/ppt/presProps.xml" Id="R6d08eb3e3c8a4907" /><Relationship Type="http://schemas.openxmlformats.org/officeDocument/2006/relationships/tableStyles" Target="/ppt/tableStyles.xml" Id="R74435f595cf7487a" /><Relationship Type="http://schemas.openxmlformats.org/officeDocument/2006/relationships/slide" Target="/ppt/slides/slide1.xml" Id="R2f46fcb883394d80" /><Relationship Type="http://schemas.openxmlformats.org/officeDocument/2006/relationships/slide" Target="/ppt/slides/slide2.xml" Id="Rac67a90542b5432f" /><Relationship Type="http://schemas.openxmlformats.org/officeDocument/2006/relationships/slide" Target="/ppt/slides/slide3.xml" Id="Rd42a5d39569344da" /><Relationship Type="http://schemas.openxmlformats.org/officeDocument/2006/relationships/slide" Target="/ppt/slides/slide4.xml" Id="R62215cb38bc34942" /><Relationship Type="http://schemas.openxmlformats.org/officeDocument/2006/relationships/slide" Target="/ppt/slides/slide5.xml" Id="R45903db3ef19474c" /><Relationship Type="http://schemas.openxmlformats.org/officeDocument/2006/relationships/slide" Target="/ppt/slides/slide6.xml" Id="R42dbbca099204322" /><Relationship Type="http://schemas.openxmlformats.org/officeDocument/2006/relationships/slide" Target="/ppt/slides/slide7.xml" Id="R649dae363ef246c4" /><Relationship Type="http://schemas.openxmlformats.org/officeDocument/2006/relationships/slide" Target="/ppt/slides/slide8.xml" Id="Rad64d73d5edc4a68" /><Relationship Type="http://schemas.openxmlformats.org/officeDocument/2006/relationships/slide" Target="/ppt/slides/slide9.xml" Id="R4a13b926093f4c1b" /><Relationship Type="http://schemas.openxmlformats.org/officeDocument/2006/relationships/slide" Target="/ppt/slides/slide10.xml" Id="R1f4395e80849464c" /><Relationship Type="http://schemas.openxmlformats.org/officeDocument/2006/relationships/slide" Target="/ppt/slides/slide11.xml" Id="Rb0fde296f5ad4324" /><Relationship Type="http://schemas.openxmlformats.org/officeDocument/2006/relationships/slide" Target="/ppt/slides/slide12.xml" Id="R920c99311fe54858" /><Relationship Type="http://schemas.openxmlformats.org/officeDocument/2006/relationships/slide" Target="/ppt/slides/slide13.xml" Id="R1d3a40d16d6f48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006936eab745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e8edba48b642ff" /><Relationship Type="http://schemas.openxmlformats.org/officeDocument/2006/relationships/notesMaster" Target="/ppt/notesMasters/notesMaster1.xml" Id="Re76d82edfe1546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c4b1db44ca4942" /><Relationship Type="http://schemas.openxmlformats.org/officeDocument/2006/relationships/notesMaster" Target="/ppt/notesMasters/notesMaster1.xml" Id="R4144b77804c943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0a7a8dca244bba" /><Relationship Type="http://schemas.openxmlformats.org/officeDocument/2006/relationships/notesMaster" Target="/ppt/notesMasters/notesMaster1.xml" Id="R7b29f2b9d69c4a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44656aa02e44d0" /><Relationship Type="http://schemas.openxmlformats.org/officeDocument/2006/relationships/notesMaster" Target="/ppt/notesMasters/notesMaster1.xml" Id="R2dc7f8f89d8e44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fad9645fb84092" /><Relationship Type="http://schemas.openxmlformats.org/officeDocument/2006/relationships/notesMaster" Target="/ppt/notesMasters/notesMaster1.xml" Id="Rf2a9dc4a255c42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8acb49f3454033" /><Relationship Type="http://schemas.openxmlformats.org/officeDocument/2006/relationships/notesMaster" Target="/ppt/notesMasters/notesMaster1.xml" Id="R646b495c52d24d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e021e486f84598" /><Relationship Type="http://schemas.openxmlformats.org/officeDocument/2006/relationships/notesMaster" Target="/ppt/notesMasters/notesMaster1.xml" Id="R87d2e4878a5547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061e12723a494e" /><Relationship Type="http://schemas.openxmlformats.org/officeDocument/2006/relationships/notesMaster" Target="/ppt/notesMasters/notesMaster1.xml" Id="R130934b56f0e4f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6d8be871d24973" /><Relationship Type="http://schemas.openxmlformats.org/officeDocument/2006/relationships/notesMaster" Target="/ppt/notesMasters/notesMaster1.xml" Id="Rfcc40f097c6548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d4fb2c67964b28" /><Relationship Type="http://schemas.openxmlformats.org/officeDocument/2006/relationships/notesMaster" Target="/ppt/notesMasters/notesMaster1.xml" Id="R476aa3f7c34848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d2e637ecaf4f18" /><Relationship Type="http://schemas.openxmlformats.org/officeDocument/2006/relationships/notesMaster" Target="/ppt/notesMasters/notesMaster1.xml" Id="Rad5a4204a34148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d8cd8b94ef459f" /><Relationship Type="http://schemas.openxmlformats.org/officeDocument/2006/relationships/notesMaster" Target="/ppt/notesMasters/notesMaster1.xml" Id="Ra115b2374833413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484081d8454b72" /><Relationship Type="http://schemas.openxmlformats.org/officeDocument/2006/relationships/notesMaster" Target="/ppt/notesMasters/notesMaster1.xml" Id="Rce102473d37f45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setting three expectations: participants will use complete prompts, compare model output with clinical judgement, and connect every activity to a patient-centred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Rx Live Demo Studio, project-authored workshop framework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verbal contract for the session. The workshop is not a tour of AI tools. It is a structured comparison of what AI can prepare and what only a clinician can decide.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Rx Live Demo Studio, project-authored workshop framework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Return to this sequence after every demonstration. Ask: did AI improve the decision path, or only produce more text? The last step must always translate into a safe, patient-understandable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Rx Live Demo Studio, project-authored workshop framework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the Prompt Library directly. The selected prompt must be fully expanded on the page. Participants should be able to scan the complete instruction, copy it, and print a booklet without editing the safety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Rx Live Demo Studio, project-authored workshop framework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clearly that this is a synthetic teaching example, not a clinical recommendation. The comparison is the teaching engine: it reveals why sequence, context and tacit pattern recognition cannot be delegated.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Rx Live Demo Studio, project-authored workshop framework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discipline of reading the case header before the AI output. Date, series and procedure are not administrative details; they shape whether the AI’s interpretation can support the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Rx Live Demo Studio, project-authored workshop framework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checks before accepting any model output. The point is not to make AI sound cautious; it is to make uncertainty and ownership operational in the next clinical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Rx Live Demo Studio, project-authored workshop framework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repeatable pattern keeps demonstrations short and clinically grounded. Do not spend workshop time engineering prompts live. Spend it evaluating what changes in the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Rx Live Demo Studio, project-authored workshop framework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section deliberately light. The app contains literature-only consent guidance so the workshop does not become overloaded with legal material. Local policy and institutional review still govern actual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Rx Live Demo Studio, project-authored workshop framework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organisers to choose the audience before publishing the invitation. The app includes ready copy for multiple audiences and an animated publicity asset.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Rx Live Demo Studio, project-authored workshop framework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the content section by showing the tangible takeaways: the complete prompt library, print-ready booklet, participant recap deck and animated publicity asset.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Rx Live Demo Studio, project-authored workshop framework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first ten minutes disciplined. The biggest block belongs to the AI-versus-Doctor case because that is where participants surface tacit clinical reasoning. Adjust examples by specialty, but retain the same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Rx Live Demo Studio, project-authored workshop framework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one concrete commitment. Direct participants to the app’s Prompt Library, Synthetic Cases, Decision Support and Publicity &amp; PPTs pages for the take-home materials.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Rx Live Demo Studio, project-authored workshop framework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dbc05dcc194b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a3db35dd7542b8" /><Relationship Type="http://schemas.openxmlformats.org/officeDocument/2006/relationships/slideLayout" Target="/ppt/slideLayouts/slideLayout1.xml" Id="Rcef16d8f356c4e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f16d8f356c4e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40760f6204cde" /><Relationship Type="http://schemas.openxmlformats.org/officeDocument/2006/relationships/image" Target="/ppt/media/image.png" Id="R23cd89072dd242f3" /><Relationship Type="http://schemas.openxmlformats.org/officeDocument/2006/relationships/notesSlide" Target="/ppt/notesSlides/notesSlide1.xml" Id="R94527a31c0314a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6d11d8c4548db" /><Relationship Type="http://schemas.openxmlformats.org/officeDocument/2006/relationships/notesSlide" Target="/ppt/notesSlides/notesSlide2.xml" Id="R8d06c430499447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5d7644b964d77" /><Relationship Type="http://schemas.openxmlformats.org/officeDocument/2006/relationships/notesSlide" Target="/ppt/notesSlides/notesSlide3.xml" Id="R123e8dde949d4b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fb467408344fc" /><Relationship Type="http://schemas.openxmlformats.org/officeDocument/2006/relationships/notesSlide" Target="/ppt/notesSlides/notesSlide4.xml" Id="R1f8da1d230134a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6ae7941794769" /><Relationship Type="http://schemas.openxmlformats.org/officeDocument/2006/relationships/notesSlide" Target="/ppt/notesSlides/notesSlide5.xml" Id="R36698d9c58174b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27178ccba447c" /><Relationship Type="http://schemas.openxmlformats.org/officeDocument/2006/relationships/notesSlide" Target="/ppt/notesSlides/notesSlide6.xml" Id="Rd3d391a565194b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7604c930b492d" /><Relationship Type="http://schemas.openxmlformats.org/officeDocument/2006/relationships/notesSlide" Target="/ppt/notesSlides/notesSlide7.xml" Id="Rbfab0d1cf6834b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2f99fc5d6429c" /><Relationship Type="http://schemas.openxmlformats.org/officeDocument/2006/relationships/notesSlide" Target="/ppt/notesSlides/notesSlide8.xml" Id="R296d6310043547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46fdac7e44f00" /><Relationship Type="http://schemas.openxmlformats.org/officeDocument/2006/relationships/notesSlide" Target="/ppt/notesSlides/notesSlide9.xml" Id="R9e5c11f7fa3945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063496a134add" /><Relationship Type="http://schemas.openxmlformats.org/officeDocument/2006/relationships/notesSlide" Target="/ppt/notesSlides/notesSlide10.xml" Id="Rc8fc8f7052734b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41273de084f9a" /><Relationship Type="http://schemas.openxmlformats.org/officeDocument/2006/relationships/notesSlide" Target="/ppt/notesSlides/notesSlide11.xml" Id="Rf1b56f34986845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1963b2e6f48dc" /><Relationship Type="http://schemas.openxmlformats.org/officeDocument/2006/relationships/notesSlide" Target="/ppt/notesSlides/notesSlide12.xml" Id="R057fb0bca03c49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b30d5522e4428" /><Relationship Type="http://schemas.openxmlformats.org/officeDocument/2006/relationships/image" Target="/ppt/media/image2.png" Id="Rf93f5245defa4538" /><Relationship Type="http://schemas.openxmlformats.org/officeDocument/2006/relationships/notesSlide" Target="/ppt/notesSlides/notesSlide13.xml" Id="R9f87d8d5c157453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d89072dd242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0E547-EF6F-4143-A33C-E2675F42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7627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D78F8-C1F9-42A2-82C5-3EBA0E7A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BBF24"/>
                </a:solidFill>
              </a:defRPr>
            </a:pPr>
            <a:r>
              <a:rPr sz="1125" b="1" i="0">
                <a:solidFill>
                  <a:srgbClr val="FBBF24"/>
                </a:solidFill>
              </a:rPr>
              <a:t>AI RX · CLINICAL PRACTICE &amp; PATIENT 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BDA22-2310-4D31-814C-8D4C088B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381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125" b="1" i="0">
                <a:solidFill>
                  <a:srgbClr val="FFF7E6"/>
                </a:solidFill>
              </a:defRPr>
            </a:pPr>
            <a:r>
              <a:rPr sz="4125" b="1" i="0">
                <a:solidFill>
                  <a:srgbClr val="FFF7E6"/>
                </a:solidFill>
              </a:rPr>
              <a:t>AI Rx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89E99-EFFF-4D1C-8B47-EFFCE146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DDEFEF"/>
                </a:solidFill>
              </a:defRPr>
            </a:pPr>
            <a:r>
              <a:rPr sz="1875" b="0" i="0">
                <a:solidFill>
                  <a:srgbClr val="DDEFEF"/>
                </a:solidFill>
              </a:rPr>
              <a:t>AI tools for clinical practice and patient care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D47DB-6224-428C-991A-C1FB03CF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72DFF-A9F9-4C0E-A197-50CD7F8D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B45309"/>
                </a:solidFill>
              </a:defRPr>
            </a:pPr>
            <a:r>
              <a:rPr sz="900" b="1" i="0">
                <a:solidFill>
                  <a:srgbClr val="B45309"/>
                </a:solidFill>
              </a:rPr>
              <a:t>FACILITATOR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315BE-806C-4EAA-AA1C-B7FAAB03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572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F3F97-9A2C-4BF6-9628-0E4BAFF1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38775"/>
            <a:ext cx="800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7E6"/>
                </a:solidFill>
              </a:defRPr>
            </a:pPr>
            <a:r>
              <a:rPr sz="1650" b="1" i="0">
                <a:solidFill>
                  <a:srgbClr val="FFF7E6"/>
                </a:solidFill>
              </a:rPr>
              <a:t>Complete prompts, progressive clinical comparisons and patient-centred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4478829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71EC3F-3E5C-4EA4-BBF2-6C151FF8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A0B70-1F1A-485A-887E-0B2BB60D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45309"/>
                </a:solidFill>
              </a:defRPr>
            </a:pPr>
            <a:r>
              <a:rPr sz="975" b="1" i="0">
                <a:solidFill>
                  <a:srgbClr val="B45309"/>
                </a:solidFill>
              </a:rPr>
              <a:t>LEARNING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B8A20-AA70-4A3B-B7F7-8E349E66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02A33"/>
                </a:solidFill>
              </a:defRPr>
            </a:pPr>
            <a:r>
              <a:rPr sz="2700" b="1" i="0">
                <a:solidFill>
                  <a:srgbClr val="102A33"/>
                </a:solidFill>
              </a:rPr>
              <a:t>How the workshop is designed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DDF95-FDFC-45BD-9173-F7C2BEEA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857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59E0B"/>
                </a:solidFill>
              </a:defRPr>
            </a:pPr>
            <a:r>
              <a:rPr sz="1500" b="1" i="0">
                <a:solidFill>
                  <a:srgbClr val="F59E0B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508FF-D8F3-42B2-9FE1-60BF21F3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3B7D1-21C7-4D20-9BCD-A2945397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E2640-2474-4FB0-A05F-B4BF6772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BE8FC-F742-4061-A425-99D88162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0975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33"/>
                </a:solidFill>
              </a:defRPr>
            </a:pPr>
            <a:r>
              <a:rPr sz="1575" b="1" i="0">
                <a:solidFill>
                  <a:srgbClr val="102A33"/>
                </a:solidFill>
              </a:rPr>
              <a:t>Copy-ready prompts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47D75-F9D4-4590-8356-76B6388C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71700"/>
            <a:ext cx="238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636B"/>
                </a:solidFill>
              </a:defRPr>
            </a:pPr>
            <a:r>
              <a:rPr sz="1200" b="0" i="0">
                <a:solidFill>
                  <a:srgbClr val="47636B"/>
                </a:solidFill>
              </a:rPr>
              <a:t>323 specialty prompts are pre-loaded, complete and visible in one 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71C9F-5C36-41B2-AA5D-6A74CDA2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19250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8209A2-58E0-4465-B43A-B585F842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907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1DFE68-F35B-4B6B-BD84-B644E4DF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85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83ED8C-F5DB-41F1-A618-58E44372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80975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33"/>
                </a:solidFill>
              </a:defRPr>
            </a:pPr>
            <a:r>
              <a:rPr sz="1575" b="1" i="0">
                <a:solidFill>
                  <a:srgbClr val="102A33"/>
                </a:solidFill>
              </a:rPr>
              <a:t>AI vs. Doctor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B54130-6175-46A7-8BE2-82D7A7D0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71700"/>
            <a:ext cx="238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636B"/>
                </a:solidFill>
              </a:defRPr>
            </a:pPr>
            <a:r>
              <a:rPr sz="1200" b="0" i="0">
                <a:solidFill>
                  <a:srgbClr val="47636B"/>
                </a:solidFill>
              </a:rPr>
              <a:t>Each specialty case exposes the AI impression and the clinician’s actual diagnosis.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E5E739-D05B-4EF6-BBCC-34A05ED9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19250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40B05B-9DEA-4A91-971A-7AA1EF27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FB70F9-33F9-43A8-8524-9282858B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85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FDAAAF-DA8B-461E-8FC4-FD9353E1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0975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33"/>
                </a:solidFill>
              </a:defRPr>
            </a:pPr>
            <a:r>
              <a:rPr sz="1575" b="1" i="0">
                <a:solidFill>
                  <a:srgbClr val="102A33"/>
                </a:solidFill>
              </a:rPr>
              <a:t>Cut the fog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75151A-7CFD-47E7-84E4-836B1713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71700"/>
            <a:ext cx="238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636B"/>
                </a:solidFill>
              </a:defRPr>
            </a:pPr>
            <a:r>
              <a:rPr sz="1200" b="0" i="0">
                <a:solidFill>
                  <a:srgbClr val="47636B"/>
                </a:solidFill>
              </a:rPr>
              <a:t>Date, patient, series and procedure appear before any analysis.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28F6AF-A9D6-4B3F-ABCE-6A80111D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B33335-C79A-4DC5-9C68-FEDFE4EE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861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C1B01F-A27D-443A-B1EB-466D89C0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5814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27DC3D-6A3B-4173-8DA7-C82A149B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0520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33"/>
                </a:solidFill>
              </a:defRPr>
            </a:pPr>
            <a:r>
              <a:rPr sz="1575" b="1" i="0">
                <a:solidFill>
                  <a:srgbClr val="102A33"/>
                </a:solidFill>
              </a:rPr>
              <a:t>Decision 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2A3079-A52B-42B5-AA0D-43D90516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67150"/>
            <a:ext cx="238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636B"/>
                </a:solidFill>
              </a:defRPr>
            </a:pPr>
            <a:r>
              <a:rPr sz="1200" b="0" i="0">
                <a:solidFill>
                  <a:srgbClr val="47636B"/>
                </a:solidFill>
              </a:rPr>
              <a:t>AI prepares options and uncertainties; the doctor owns interpretation and action.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230782-9BEE-484B-B3EF-A15B693C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14700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1BBB58-05EB-4DFB-88D6-8F6FD674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861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5DEFD7-C8CC-40D4-BF3F-27C2F5DA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814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3C4B15-9A7B-44C5-9F4B-DA79FA05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0520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33"/>
                </a:solidFill>
              </a:defRPr>
            </a:pPr>
            <a:r>
              <a:rPr sz="1575" b="1" i="0">
                <a:solidFill>
                  <a:srgbClr val="102A33"/>
                </a:solidFill>
              </a:rPr>
              <a:t>Audience fit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FAF615-1BC6-485C-B856-2F3A472F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67150"/>
            <a:ext cx="238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636B"/>
                </a:solidFill>
              </a:defRPr>
            </a:pPr>
            <a:r>
              <a:rPr sz="1200" b="0" i="0">
                <a:solidFill>
                  <a:srgbClr val="47636B"/>
                </a:solidFill>
              </a:rPr>
              <a:t>Publicity and take-home language change for doctors, leaders, educators and researchers.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E1DD8E-FF68-4ACD-9658-CDADCA71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143500"/>
            <a:ext cx="38576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A77A49-F55D-402F-AF45-C5BC643B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00650"/>
            <a:ext cx="3629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7E6"/>
                </a:solidFill>
              </a:defRPr>
            </a:pPr>
            <a:r>
              <a:rPr sz="975" b="1" i="0">
                <a:solidFill>
                  <a:srgbClr val="FFF7E6"/>
                </a:solidFill>
              </a:rPr>
              <a:t>NORTH STAR · PATIENT CENTRICITY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0C4DED-F926-4392-9063-2DF832BC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269532-7EB0-49F9-980F-B8602533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47636B"/>
                </a:solidFill>
              </a:defRPr>
            </a:pPr>
            <a:r>
              <a:rPr sz="750" b="1" i="0">
                <a:solidFill>
                  <a:srgbClr val="47636B"/>
                </a:solidFill>
              </a:rPr>
              <a:t>AI Rx · Patient first · Doctor led · AI assisted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86EA69-A646-4640-878A-DFA14C44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47636B"/>
                </a:solidFill>
              </a:defRPr>
            </a:pPr>
            <a:r>
              <a:rPr sz="750" b="0" i="0">
                <a:solidFill>
                  <a:srgbClr val="47636B"/>
                </a:solidFill>
              </a:rPr>
              <a:t>Workshop material · Not clinical advice</a:t>
            </a:r>
          </a:p>
        </p:txBody>
      </p:sp>
    </p:spTree>
    <p:extLst>
      <p:ext uri="{BB962C8B-B14F-4D97-AF65-F5344CB8AC3E}">
        <p14:creationId xmlns:p14="http://schemas.microsoft.com/office/powerpoint/2010/main" val="5339772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BBE20B-83A3-40AC-8087-AA08E735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3B8F0-0835-4680-98F5-2A1F0C68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45309"/>
                </a:solidFill>
              </a:defRPr>
            </a:pPr>
            <a:r>
              <a:rPr sz="975" b="1" i="0">
                <a:solidFill>
                  <a:srgbClr val="B45309"/>
                </a:solidFill>
              </a:rPr>
              <a:t>NORTH STAR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FDB9D-CF74-4300-81CB-CF304241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02A33"/>
                </a:solidFill>
              </a:defRPr>
            </a:pPr>
            <a:r>
              <a:rPr sz="2700" b="1" i="0">
                <a:solidFill>
                  <a:srgbClr val="102A33"/>
                </a:solidFill>
              </a:rPr>
              <a:t>Patient centricity is the decision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A9143-6E5E-4662-AFCB-671E2676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857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59E0B"/>
                </a:solidFill>
              </a:defRPr>
            </a:pPr>
            <a:r>
              <a:rPr sz="1500" b="1" i="0">
                <a:solidFill>
                  <a:srgbClr val="F59E0B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06A59-9926-4AC5-9D50-F94947A8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7C1E4-10B6-4097-A77A-2647D254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59E0B"/>
                </a:solidFill>
              </a:defRPr>
            </a:pPr>
            <a:r>
              <a:rPr sz="1800" b="1" i="0">
                <a:solidFill>
                  <a:srgbClr val="F59E0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CE3B0-5091-4B3B-8A66-605178A0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81175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02A33"/>
                </a:solidFill>
              </a:defRPr>
            </a:pPr>
            <a:r>
              <a:rPr sz="1650" b="1" i="0">
                <a:solidFill>
                  <a:srgbClr val="102A33"/>
                </a:solidFill>
              </a:rPr>
              <a:t>Patient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C2E76-514E-4D42-BF72-3928571B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7636B"/>
                </a:solidFill>
              </a:defRPr>
            </a:pPr>
            <a:r>
              <a:rPr sz="1275" b="0" i="0">
                <a:solidFill>
                  <a:srgbClr val="47636B"/>
                </a:solidFill>
              </a:rPr>
              <a:t>What matters now?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8B11C-A48E-456A-B6F2-B06A102F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8115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BE55E-BE2A-456C-8E9E-2A7AB383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59E0B"/>
                </a:solidFill>
              </a:defRPr>
            </a:pPr>
            <a:r>
              <a:rPr sz="1800" b="1" i="0">
                <a:solidFill>
                  <a:srgbClr val="F59E0B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73CF1-FD94-416E-A2D1-8197F883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81175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02A33"/>
                </a:solidFill>
              </a:defRPr>
            </a:pPr>
            <a:r>
              <a:rPr sz="1650" b="1" i="0">
                <a:solidFill>
                  <a:srgbClr val="102A33"/>
                </a:solidFill>
              </a:rPr>
              <a:t>Specialty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DC12D-1A6E-4B1F-A5FF-E386D264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241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7636B"/>
                </a:solidFill>
              </a:defRPr>
            </a:pPr>
            <a:r>
              <a:rPr sz="1275" b="0" i="0">
                <a:solidFill>
                  <a:srgbClr val="47636B"/>
                </a:solidFill>
              </a:rPr>
              <a:t>Which lens is required?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B86EB-C044-454F-91DB-E2445495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8115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C6E66-4196-42BB-82C5-27F37A46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526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59E0B"/>
                </a:solidFill>
              </a:defRPr>
            </a:pPr>
            <a:r>
              <a:rPr sz="1800" b="1" i="0">
                <a:solidFill>
                  <a:srgbClr val="F59E0B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2647B-5320-4FFA-983C-DF2666C5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81175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02A33"/>
                </a:solidFill>
              </a:defRPr>
            </a:pPr>
            <a:r>
              <a:rPr sz="1650" b="1" i="0">
                <a:solidFill>
                  <a:srgbClr val="102A33"/>
                </a:solidFill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123236-FCB5-4BB7-968C-5BB45996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241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7636B"/>
                </a:solidFill>
              </a:defRPr>
            </a:pPr>
            <a:r>
              <a:rPr sz="1275" b="0" i="0">
                <a:solidFill>
                  <a:srgbClr val="47636B"/>
                </a:solidFill>
              </a:rPr>
              <a:t>What data can be trusted?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01FE3-F28A-480B-891D-4D572381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D34AA8-A928-413C-A783-AEBF25C7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59E0B"/>
                </a:solidFill>
              </a:defRPr>
            </a:pPr>
            <a:r>
              <a:rPr sz="1800" b="1" i="0">
                <a:solidFill>
                  <a:srgbClr val="F59E0B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B9A5B7-521D-413F-8D64-8340DED5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90925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02A33"/>
                </a:solidFill>
              </a:defRPr>
            </a:pPr>
            <a:r>
              <a:rPr sz="1650" b="1" i="0">
                <a:solidFill>
                  <a:srgbClr val="102A33"/>
                </a:solidFill>
              </a:rPr>
              <a:t>AI support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F1CD97-F4A9-472A-9F0F-024DD2FF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7636B"/>
                </a:solidFill>
              </a:defRPr>
            </a:pPr>
            <a:r>
              <a:rPr sz="1275" b="0" i="0">
                <a:solidFill>
                  <a:srgbClr val="47636B"/>
                </a:solidFill>
              </a:rPr>
              <a:t>What options or gaps appear?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CD605F-BD85-4CDA-9177-81DA33AC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909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6D74C1-8EC8-421E-8494-0CD625B9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623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59E0B"/>
                </a:solidFill>
              </a:defRPr>
            </a:pPr>
            <a:r>
              <a:rPr sz="1800" b="1" i="0">
                <a:solidFill>
                  <a:srgbClr val="F59E0B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9F21ED-FA36-4C5A-A194-215B32F6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90925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02A33"/>
                </a:solidFill>
              </a:defRPr>
            </a:pPr>
            <a:r>
              <a:rPr sz="1650" b="1" i="0">
                <a:solidFill>
                  <a:srgbClr val="102A33"/>
                </a:solidFill>
              </a:rPr>
              <a:t>Doctor judgment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F6AF30-BEC7-445F-BF5A-8D83A54E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338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7636B"/>
                </a:solidFill>
              </a:defRPr>
            </a:pPr>
            <a:r>
              <a:rPr sz="1275" b="0" i="0">
                <a:solidFill>
                  <a:srgbClr val="47636B"/>
                </a:solidFill>
              </a:rPr>
              <a:t>What fits this person?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1EBB60-1414-4328-8938-615DB1A9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909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0D2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42D407-6239-4885-9FD5-5339290F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623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BBF24"/>
                </a:solidFill>
              </a:defRPr>
            </a:pPr>
            <a:r>
              <a:rPr sz="1800" b="1" i="0">
                <a:solidFill>
                  <a:srgbClr val="FBBF24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1425E6-69BC-4525-A114-2F95DA6E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90925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7E6"/>
                </a:solidFill>
              </a:defRPr>
            </a:pPr>
            <a:r>
              <a:rPr sz="1650" b="1" i="0">
                <a:solidFill>
                  <a:srgbClr val="FFF7E6"/>
                </a:solidFill>
              </a:rPr>
              <a:t>Patient action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0F1527-BB11-4ED8-9815-37D1E771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338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DDEFEF"/>
                </a:solidFill>
              </a:defRPr>
            </a:pPr>
            <a:r>
              <a:rPr sz="1275" b="0" i="0">
                <a:solidFill>
                  <a:srgbClr val="DDEFEF"/>
                </a:solidFill>
              </a:rPr>
              <a:t>What is safe and understandable?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F827F6-68C0-4617-A7A5-74ACC297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0DF86F-4084-43B2-A1C0-51FC3556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47636B"/>
                </a:solidFill>
              </a:defRPr>
            </a:pPr>
            <a:r>
              <a:rPr sz="750" b="1" i="0">
                <a:solidFill>
                  <a:srgbClr val="47636B"/>
                </a:solidFill>
              </a:rPr>
              <a:t>AI Rx · Patient first · Doctor led · AI assisted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26594D-A9DB-4D1B-9823-2DAAD9AA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47636B"/>
                </a:solidFill>
              </a:defRPr>
            </a:pPr>
            <a:r>
              <a:rPr sz="750" b="0" i="0">
                <a:solidFill>
                  <a:srgbClr val="47636B"/>
                </a:solidFill>
              </a:rPr>
              <a:t>Workshop material · Not clinical advice</a:t>
            </a:r>
          </a:p>
        </p:txBody>
      </p:sp>
    </p:spTree>
    <p:extLst>
      <p:ext uri="{BB962C8B-B14F-4D97-AF65-F5344CB8AC3E}">
        <p14:creationId xmlns:p14="http://schemas.microsoft.com/office/powerpoint/2010/main" val="19873899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A029BD-4E6C-43A9-90B3-C4EA1712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4F8AC-86C5-44F4-960E-67AC4F21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45309"/>
                </a:solidFill>
              </a:defRPr>
            </a:pPr>
            <a:r>
              <a:rPr sz="975" b="1" i="0">
                <a:solidFill>
                  <a:srgbClr val="B45309"/>
                </a:solidFill>
              </a:rPr>
              <a:t>PROMPT 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BC6AE-754F-490C-A288-9AF4EE5A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02A33"/>
                </a:solidFill>
              </a:defRPr>
            </a:pPr>
            <a:r>
              <a:rPr sz="2700" b="1" i="0">
                <a:solidFill>
                  <a:srgbClr val="102A33"/>
                </a:solidFill>
              </a:rPr>
              <a:t>A complete prompt protects the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A52CD-CE6B-4A62-AC7B-338C16D8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857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59E0B"/>
                </a:solidFill>
              </a:defRPr>
            </a:pPr>
            <a:r>
              <a:rPr sz="1500" b="1" i="0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24102-B62D-455D-BFD4-8BFA6FD0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4762500" cy="4333875"/>
          </a:xfrm>
          <a:prstGeom xmlns:a="http://schemas.openxmlformats.org/drawingml/2006/main" prst="roundRect">
            <a:avLst>
              <a:gd name="adj" fmla="val 2637"/>
            </a:avLst>
          </a:prstGeom>
          <a:solidFill xmlns:a="http://schemas.openxmlformats.org/drawingml/2006/main">
            <a:srgbClr val="0D2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660E1-84B5-416F-87BF-489305BC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71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BBF24"/>
                </a:solidFill>
              </a:defRPr>
            </a:pPr>
            <a:r>
              <a:rPr sz="1125" b="1" i="0">
                <a:solidFill>
                  <a:srgbClr val="FBBF24"/>
                </a:solidFill>
              </a:rPr>
              <a:t>FULL PROMPT · ONE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CD234-8514-4EDC-8A3A-47B94DB0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7E6"/>
                </a:solidFill>
              </a:defRPr>
            </a:pPr>
            <a:r>
              <a:rPr sz="2250" b="1" i="0">
                <a:solidFill>
                  <a:srgbClr val="FFF7E6"/>
                </a:solidFill>
              </a:rPr>
              <a:t>Copy. Paste. Replace only the patient fields.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A9505-27EB-48FD-A84A-A3B29A68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371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DDEFEF"/>
                </a:solidFill>
              </a:defRPr>
            </a:pPr>
            <a:r>
              <a:rPr sz="1650" b="0" i="0">
                <a:solidFill>
                  <a:srgbClr val="DDEFEF"/>
                </a:solidFill>
              </a:rPr>
              <a:t>No collapsed boxes</a:t>
            </a:r>
          </a:p>
          <a:p xmlns:a="http://schemas.openxmlformats.org/drawingml/2006/main">
            <a:pPr>
              <a:defRPr sz="1650" b="0" i="0">
                <a:solidFill>
                  <a:srgbClr val="DDEFEF"/>
                </a:solidFill>
              </a:defRPr>
            </a:pPr>
            <a:r>
              <a:rPr sz="1650" b="0" i="0">
                <a:solidFill>
                  <a:srgbClr val="DDEFEF"/>
                </a:solidFill>
              </a:rPr>
              <a:t>No prompt engineering</a:t>
            </a:r>
          </a:p>
          <a:p xmlns:a="http://schemas.openxmlformats.org/drawingml/2006/main">
            <a:pPr>
              <a:defRPr sz="1650" b="0" i="0">
                <a:solidFill>
                  <a:srgbClr val="DDEFEF"/>
                </a:solidFill>
              </a:defRPr>
            </a:pPr>
            <a:r>
              <a:rPr sz="1650" b="0" i="0">
                <a:solidFill>
                  <a:srgbClr val="DDEFEF"/>
                </a:solidFill>
              </a:rPr>
              <a:t>No hidden safety clauses</a:t>
            </a:r>
          </a:p>
          <a:p xmlns:a="http://schemas.openxmlformats.org/drawingml/2006/main">
            <a:pPr>
              <a:defRPr sz="1650" b="0" i="0">
                <a:solidFill>
                  <a:srgbClr val="DDEFEF"/>
                </a:solidFill>
              </a:defRPr>
            </a:pPr>
            <a:r>
              <a:rPr sz="1650" b="0" i="0">
                <a:solidFill>
                  <a:srgbClr val="DDEFEF"/>
                </a:solidFill>
              </a:rPr>
              <a:t>No zoom or drag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6F751-570F-44BE-A9C6-EC08610E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91125"/>
            <a:ext cx="3714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B43F13-E97D-40A1-90A6-005F6E73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48275"/>
            <a:ext cx="3486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323 PROMPTS · 19 SPECIALTY LENSES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5CC7D3-3938-4CB3-977C-98F0020E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62100"/>
            <a:ext cx="514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8885F-19B8-4EBD-B0C1-827DF32F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478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BF54FD-019A-4FC9-B88D-70495CE0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19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02A33"/>
                </a:solidFill>
              </a:defRPr>
            </a:pPr>
            <a:r>
              <a:rPr sz="1500" b="0" i="0">
                <a:solidFill>
                  <a:srgbClr val="102A33"/>
                </a:solidFill>
              </a:rPr>
              <a:t>Role + boundary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DFFCD-C47A-42A0-AD8A-04CCF277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85975"/>
            <a:ext cx="514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E5936-B94A-456D-9485-A9CA8A44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717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C93DF4-C13C-43BC-AC25-5EFB41CD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431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02A33"/>
                </a:solidFill>
              </a:defRPr>
            </a:pPr>
            <a:r>
              <a:rPr sz="1500" b="0" i="0">
                <a:solidFill>
                  <a:srgbClr val="102A33"/>
                </a:solidFill>
              </a:rPr>
              <a:t>Patient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8C0806-EDD3-4507-900C-656B1634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09850"/>
            <a:ext cx="514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DE2F9F-273F-493D-9CBB-E90A153D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955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3F22D3-4E5A-4FA6-B81B-55467A9D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67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02A33"/>
                </a:solidFill>
              </a:defRPr>
            </a:pPr>
            <a:r>
              <a:rPr sz="1500" b="1" i="0">
                <a:solidFill>
                  <a:srgbClr val="102A33"/>
                </a:solidFill>
              </a:rPr>
              <a:t>Decision question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9A2082-D32F-4845-9F32-049A15CB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33725"/>
            <a:ext cx="514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323D87-7F7F-4A12-813F-DD477B18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194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8A5D19-9BEE-45EE-9FFD-7B3FDF61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90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02A33"/>
                </a:solidFill>
              </a:defRPr>
            </a:pPr>
            <a:r>
              <a:rPr sz="1500" b="0" i="0">
                <a:solidFill>
                  <a:srgbClr val="102A33"/>
                </a:solidFill>
              </a:rPr>
              <a:t>Non-negotiable rules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F95DFE-CD76-4116-904C-F05CAC45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57600"/>
            <a:ext cx="514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A68736-F4D7-47BD-ADB9-20CF9319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7433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8B5ABA-8C3A-4654-BA3C-573F12BC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14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02A33"/>
                </a:solidFill>
              </a:defRPr>
            </a:pPr>
            <a:r>
              <a:rPr sz="1500" b="0" i="0">
                <a:solidFill>
                  <a:srgbClr val="102A33"/>
                </a:solidFill>
              </a:rPr>
              <a:t>Six-step reasoning method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3D7285-4ED0-4998-BEFE-065CF7EE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181475"/>
            <a:ext cx="514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A3EAEE-21FA-4207-A4C6-CFDF789E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2672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309B4B-5163-44A4-B7E1-DF40936C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38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02A33"/>
                </a:solidFill>
              </a:defRPr>
            </a:pPr>
            <a:r>
              <a:rPr sz="1500" b="0" i="0">
                <a:solidFill>
                  <a:srgbClr val="102A33"/>
                </a:solidFill>
              </a:rPr>
              <a:t>Required output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53928B-CF5A-42DC-A6EA-E355618B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05350"/>
            <a:ext cx="514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B06594-D354-4574-BC0B-22218E32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910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03967B-AA63-4076-8A09-C99A0D43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62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02A33"/>
                </a:solidFill>
              </a:defRPr>
            </a:pPr>
            <a:r>
              <a:rPr sz="1500" b="1" i="0">
                <a:solidFill>
                  <a:srgbClr val="102A33"/>
                </a:solidFill>
              </a:rPr>
              <a:t>AI-versus-Doctor check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A7C2DC-6975-4D7D-B20B-DA3BB79A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229225"/>
            <a:ext cx="514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AFF9DF-F132-4C77-957E-86659984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314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F9F635-CA19-4CF9-8E1C-0534A3A7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863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02A33"/>
                </a:solidFill>
              </a:defRPr>
            </a:pPr>
            <a:r>
              <a:rPr sz="1500" b="0" i="0">
                <a:solidFill>
                  <a:srgbClr val="102A33"/>
                </a:solidFill>
              </a:rPr>
              <a:t>Safety + uncertainty block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465579-1B5E-49CC-AAEA-A7FD05BC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C2E569-DC47-4EB0-979E-478468CE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47636B"/>
                </a:solidFill>
              </a:defRPr>
            </a:pPr>
            <a:r>
              <a:rPr sz="750" b="1" i="0">
                <a:solidFill>
                  <a:srgbClr val="47636B"/>
                </a:solidFill>
              </a:rPr>
              <a:t>AI Rx · Patient first · Doctor led · AI assisted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6C51D0-28DF-4E6A-94DE-A98F8AB4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47636B"/>
                </a:solidFill>
              </a:defRPr>
            </a:pPr>
            <a:r>
              <a:rPr sz="750" b="0" i="0">
                <a:solidFill>
                  <a:srgbClr val="47636B"/>
                </a:solidFill>
              </a:rPr>
              <a:t>Workshop material · Not clinical advice</a:t>
            </a:r>
          </a:p>
        </p:txBody>
      </p:sp>
    </p:spTree>
    <p:extLst>
      <p:ext uri="{BB962C8B-B14F-4D97-AF65-F5344CB8AC3E}">
        <p14:creationId xmlns:p14="http://schemas.microsoft.com/office/powerpoint/2010/main" val="7627098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1CE6F2-5AFA-4BF5-8C27-8AC4D277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7B4BCB-E286-4040-ACA4-83A747A0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45309"/>
                </a:solidFill>
              </a:defRPr>
            </a:pPr>
            <a:r>
              <a:rPr sz="975" b="1" i="0">
                <a:solidFill>
                  <a:srgbClr val="B45309"/>
                </a:solidFill>
              </a:rPr>
              <a:t>CORE DIFFERENTIATOR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98264-FF99-4C69-BA6A-7E7C1B4F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02A33"/>
                </a:solidFill>
              </a:defRPr>
            </a:pPr>
            <a:r>
              <a:rPr sz="2700" b="1" i="0">
                <a:solidFill>
                  <a:srgbClr val="102A33"/>
                </a:solidFill>
              </a:rPr>
              <a:t>AI-versus-Doctor makes tacit knowledge visible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6E314-85F9-4F87-82CF-12BC9DEE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857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59E0B"/>
                </a:solidFill>
              </a:defRPr>
            </a:pPr>
            <a:r>
              <a:rPr sz="1500" b="1" i="0">
                <a:solidFill>
                  <a:srgbClr val="F59E0B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0D61E-8CC5-4840-A5EC-24050EF7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3238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3FDD1-1F7D-44FA-81A5-1D95A628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38275"/>
            <a:ext cx="3009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45309"/>
                </a:solidFill>
              </a:defRPr>
            </a:pPr>
            <a:r>
              <a:rPr sz="975" b="1" i="0">
                <a:solidFill>
                  <a:srgbClr val="B45309"/>
                </a:solidFill>
              </a:rPr>
              <a:t>SYNTHETIC TEACHING CASE · CHEST PAIN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5DA58-A87E-4321-B54C-34331DC1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4953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8CD620-1F67-4B6C-A663-11EE9272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B45309"/>
                </a:solidFill>
              </a:defRPr>
            </a:pPr>
            <a:r>
              <a:rPr sz="1875" b="1" i="0">
                <a:solidFill>
                  <a:srgbClr val="B45309"/>
                </a:solidFill>
              </a:rPr>
              <a:t>AI perceived diagnosis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794E2-47D8-4263-931E-E664971A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4191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02A33"/>
                </a:solidFill>
              </a:defRPr>
            </a:pPr>
            <a:r>
              <a:rPr sz="1650" b="0" i="0">
                <a:solidFill>
                  <a:srgbClr val="102A33"/>
                </a:solidFill>
              </a:rPr>
              <a:t>Low-risk musculoskeletal pain based on a non-diagnostic first ECG and atypical symptom description.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7FE92-C902-4BE3-91C2-56DAA3C2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45309"/>
                </a:solidFill>
              </a:defRPr>
            </a:pPr>
            <a:r>
              <a:rPr sz="1125" b="1" i="0">
                <a:solidFill>
                  <a:srgbClr val="B45309"/>
                </a:solidFill>
              </a:rPr>
              <a:t>Blind spot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EEA86-7B12-4255-9D0D-2A087A54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00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7636B"/>
                </a:solidFill>
              </a:defRPr>
            </a:pPr>
            <a:r>
              <a:rPr sz="1350" b="0" i="0">
                <a:solidFill>
                  <a:srgbClr val="47636B"/>
                </a:solidFill>
              </a:rPr>
              <a:t>Anchored on a single snapshot.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5DE9E4-4BD7-4312-B754-953F04FC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05000"/>
            <a:ext cx="4953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83E32-BFBB-42F1-85F7-515E2B43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71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BBF24"/>
                </a:solidFill>
              </a:defRPr>
            </a:pPr>
            <a:r>
              <a:rPr sz="1875" b="1" i="0">
                <a:solidFill>
                  <a:srgbClr val="FBBF24"/>
                </a:solidFill>
              </a:rPr>
              <a:t>Doctor’s working diagnosis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19DF3-6FEC-4010-BE85-16546B8C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43200"/>
            <a:ext cx="4191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FFF7E6"/>
                </a:solidFill>
              </a:defRPr>
            </a:pPr>
            <a:r>
              <a:rPr sz="1650" b="0" i="0">
                <a:solidFill>
                  <a:srgbClr val="FFF7E6"/>
                </a:solidFill>
              </a:rPr>
              <a:t>Evolving acute coronary syndrome requiring serial ECG/troponin review and risk-context integration.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B3D5C2-F2AB-487B-A90E-1E7CF60F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95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BBF24"/>
                </a:solidFill>
              </a:defRPr>
            </a:pPr>
            <a:r>
              <a:rPr sz="1125" b="1" i="0">
                <a:solidFill>
                  <a:srgbClr val="FBBF24"/>
                </a:solidFill>
              </a:rPr>
              <a:t>Tacit cue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9E3DF-202B-47B7-A3C8-C3F6E7D4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100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DEFEF"/>
                </a:solidFill>
              </a:defRPr>
            </a:pPr>
            <a:r>
              <a:rPr sz="1350" b="0" i="0">
                <a:solidFill>
                  <a:srgbClr val="DDEFEF"/>
                </a:solidFill>
              </a:rPr>
              <a:t>Trajectory + context changed the decision.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A6ECE0-4188-49CD-94A8-EC055E46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19700"/>
            <a:ext cx="74676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125097-AEBA-4490-B852-8D6BE844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39115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Value: compare reasoning, surface uncertainty, keep clinical ownership with the doctor.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B8CF3D-232E-42CA-B7FB-E5400762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D52579-5F7C-4AA9-AD4F-590D2DAA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47636B"/>
                </a:solidFill>
              </a:defRPr>
            </a:pPr>
            <a:r>
              <a:rPr sz="750" b="1" i="0">
                <a:solidFill>
                  <a:srgbClr val="47636B"/>
                </a:solidFill>
              </a:rPr>
              <a:t>AI Rx · Patient first · Doctor led · AI assisted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B8204C-E15C-4512-9166-D1F95DFB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47636B"/>
                </a:solidFill>
              </a:defRPr>
            </a:pPr>
            <a:r>
              <a:rPr sz="750" b="0" i="0">
                <a:solidFill>
                  <a:srgbClr val="47636B"/>
                </a:solidFill>
              </a:rPr>
              <a:t>Workshop material · Not clinical advice</a:t>
            </a:r>
          </a:p>
        </p:txBody>
      </p:sp>
    </p:spTree>
    <p:extLst>
      <p:ext uri="{BB962C8B-B14F-4D97-AF65-F5344CB8AC3E}">
        <p14:creationId xmlns:p14="http://schemas.microsoft.com/office/powerpoint/2010/main" val="14552138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45CDCB-DB88-439E-B559-C1DAE1B9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91A1A-08E1-4E7E-844D-1E867ADE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45309"/>
                </a:solidFill>
              </a:defRPr>
            </a:pPr>
            <a:r>
              <a:rPr sz="975" b="1" i="0">
                <a:solidFill>
                  <a:srgbClr val="B45309"/>
                </a:solidFill>
              </a:rPr>
              <a:t>CUT THE FOG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E141B-1D4D-4DCB-8120-203346AF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02A33"/>
                </a:solidFill>
              </a:defRPr>
            </a:pPr>
            <a:r>
              <a:rPr sz="2700" b="1" i="0">
                <a:solidFill>
                  <a:srgbClr val="102A33"/>
                </a:solidFill>
              </a:rPr>
              <a:t>Every case begins with the source facts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DE30E-5A64-4E76-A6FC-79EEDDD2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857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59E0B"/>
                </a:solidFill>
              </a:defRPr>
            </a:pPr>
            <a:r>
              <a:rPr sz="1500" b="1" i="0">
                <a:solidFill>
                  <a:srgbClr val="F59E0B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F7743-0A51-47F1-86EC-40A0BBA6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90675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59E0B"/>
                </a:solidFill>
              </a:defRPr>
            </a:pPr>
            <a:r>
              <a:rPr sz="1800" b="1" i="0">
                <a:solidFill>
                  <a:srgbClr val="F59E0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81712-15B7-4A79-8CE8-E5A9CEF3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66850"/>
            <a:ext cx="947737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99EDC-0DE1-4861-AF61-A87386FE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6287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02A33"/>
                </a:solidFill>
              </a:defRPr>
            </a:pPr>
            <a:r>
              <a:rPr sz="1500" b="1" i="0">
                <a:solidFill>
                  <a:srgbClr val="102A33"/>
                </a:solidFill>
              </a:rPr>
              <a:t>Document 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CAB47E-34E0-4E78-AEF9-3583DD1B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38300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7636B"/>
                </a:solidFill>
              </a:defRPr>
            </a:pPr>
            <a:r>
              <a:rPr sz="1350" b="0" i="0">
                <a:solidFill>
                  <a:srgbClr val="47636B"/>
                </a:solidFill>
              </a:rPr>
              <a:t>When was the source created?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97D5B-DB0E-4CD2-8852-66CCBF43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59E0B"/>
                </a:solidFill>
              </a:defRPr>
            </a:pPr>
            <a:r>
              <a:rPr sz="1800" b="1" i="0">
                <a:solidFill>
                  <a:srgbClr val="F59E0B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0C29D-8814-4A50-88CE-BB0A6AEF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947737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F067E2-6BD5-484B-B554-29D4EDB1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050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02A33"/>
                </a:solidFill>
              </a:defRPr>
            </a:pPr>
            <a:r>
              <a:rPr sz="1500" b="1" i="0">
                <a:solidFill>
                  <a:srgbClr val="102A33"/>
                </a:solidFill>
              </a:rPr>
              <a:t>Patient information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AC0C9-2448-49D7-8F27-79D3ED10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14600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7636B"/>
                </a:solidFill>
              </a:defRPr>
            </a:pPr>
            <a:r>
              <a:rPr sz="1350" b="0" i="0">
                <a:solidFill>
                  <a:srgbClr val="47636B"/>
                </a:solidFill>
              </a:rPr>
              <a:t>Age band, context, red flags.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FDA5A6-D0EC-40F2-AE1A-A2A701C3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59E0B"/>
                </a:solidFill>
              </a:defRPr>
            </a:pPr>
            <a:r>
              <a:rPr sz="1800" b="1" i="0">
                <a:solidFill>
                  <a:srgbClr val="F59E0B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B86219-39A7-4416-BC10-B473A2D3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19450"/>
            <a:ext cx="947737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51841D-930E-4C6D-8D67-0B658D95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813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02A33"/>
                </a:solidFill>
              </a:defRPr>
            </a:pPr>
            <a:r>
              <a:rPr sz="1500" b="1" i="0">
                <a:solidFill>
                  <a:srgbClr val="102A33"/>
                </a:solidFill>
              </a:rPr>
              <a:t>Procedure information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5AA840-74F0-496E-B13D-04FA1BA1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90900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7636B"/>
                </a:solidFill>
              </a:defRPr>
            </a:pPr>
            <a:r>
              <a:rPr sz="1350" b="0" i="0">
                <a:solidFill>
                  <a:srgbClr val="47636B"/>
                </a:solidFill>
              </a:rPr>
              <a:t>Test, intervention or encounter.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950AFB-0874-4B5E-8925-FC406567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59E0B"/>
                </a:solidFill>
              </a:defRPr>
            </a:pPr>
            <a:r>
              <a:rPr sz="1800" b="1" i="0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D905B9-9B6F-42EC-81B0-3ECE00F8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47737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06B91A-D93D-4683-92AD-A10AC399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576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02A33"/>
                </a:solidFill>
              </a:defRPr>
            </a:pPr>
            <a:r>
              <a:rPr sz="1500" b="1" i="0">
                <a:solidFill>
                  <a:srgbClr val="102A33"/>
                </a:solidFill>
              </a:rPr>
              <a:t>Series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4F49A7-B914-4409-9C69-E686F587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7636B"/>
                </a:solidFill>
              </a:defRPr>
            </a:pPr>
            <a:r>
              <a:rPr sz="1350" b="0" i="0">
                <a:solidFill>
                  <a:srgbClr val="47636B"/>
                </a:solidFill>
              </a:rPr>
              <a:t>Sequence, comparison and trajectory.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41BFB4-1ED4-4EAF-A34E-8E26B28B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59E0B"/>
                </a:solidFill>
              </a:defRPr>
            </a:pPr>
            <a:r>
              <a:rPr sz="1800" b="1" i="0">
                <a:solidFill>
                  <a:srgbClr val="F59E0B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E246BA-E586-494E-A687-A2629B14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947737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D2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8CF1DB-EEFF-48AD-94B6-452AD397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339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BBF24"/>
                </a:solidFill>
              </a:defRPr>
            </a:pPr>
            <a:r>
              <a:rPr sz="1500" b="1" i="0">
                <a:solidFill>
                  <a:srgbClr val="FBBF24"/>
                </a:solidFill>
              </a:rPr>
              <a:t>Decision question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8B400B-7210-4D4F-AE71-AB4720DD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43500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F7E6"/>
                </a:solidFill>
              </a:defRPr>
            </a:pPr>
            <a:r>
              <a:rPr sz="1350" b="0" i="0">
                <a:solidFill>
                  <a:srgbClr val="FFF7E6"/>
                </a:solidFill>
              </a:rPr>
              <a:t>What must the clinician decide?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C24599-64D6-46E2-8B1A-1836E49F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4DD5E3-3611-4F4D-A6B0-835A5E10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47636B"/>
                </a:solidFill>
              </a:defRPr>
            </a:pPr>
            <a:r>
              <a:rPr sz="750" b="1" i="0">
                <a:solidFill>
                  <a:srgbClr val="47636B"/>
                </a:solidFill>
              </a:rPr>
              <a:t>AI Rx · Patient first · Doctor led · AI assisted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08F593-90DC-4C83-9536-68323BD6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47636B"/>
                </a:solidFill>
              </a:defRPr>
            </a:pPr>
            <a:r>
              <a:rPr sz="750" b="0" i="0">
                <a:solidFill>
                  <a:srgbClr val="47636B"/>
                </a:solidFill>
              </a:rPr>
              <a:t>Workshop material · Not clinical advice</a:t>
            </a:r>
          </a:p>
        </p:txBody>
      </p:sp>
    </p:spTree>
    <p:extLst>
      <p:ext uri="{BB962C8B-B14F-4D97-AF65-F5344CB8AC3E}">
        <p14:creationId xmlns:p14="http://schemas.microsoft.com/office/powerpoint/2010/main" val="8421689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00B4DD-9F50-41DC-A93D-37D271E4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1CE2E-7BB6-4B30-8B2F-079A474D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45309"/>
                </a:solidFill>
              </a:defRPr>
            </a:pPr>
            <a:r>
              <a:rPr sz="975" b="1" i="0">
                <a:solidFill>
                  <a:srgbClr val="B45309"/>
                </a:solidFill>
              </a:rPr>
              <a:t>CLINICAL OWNERSHIP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E5124-8713-461B-8B62-6BD6CBDB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02A33"/>
                </a:solidFill>
              </a:defRPr>
            </a:pPr>
            <a:r>
              <a:rPr sz="2700" b="1" i="0">
                <a:solidFill>
                  <a:srgbClr val="102A33"/>
                </a:solidFill>
              </a:rPr>
              <a:t>Decision support requires six explicit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EF833-5092-4CA3-82E2-29983319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857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59E0B"/>
                </a:solidFill>
              </a:defRPr>
            </a:pPr>
            <a:r>
              <a:rPr sz="1500" b="1" i="0">
                <a:solidFill>
                  <a:srgbClr val="F59E0B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70E41-560F-44BE-A2A8-BA0185A7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1435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B2154-9206-426E-BEEC-930FB82C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A80A7-E4D1-45A5-80A5-9A869EFF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956BF-0307-473A-8470-D02CD6D4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19250"/>
            <a:ext cx="422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33"/>
                </a:solidFill>
              </a:defRPr>
            </a:pPr>
            <a:r>
              <a:rPr sz="1575" b="1" i="0">
                <a:solidFill>
                  <a:srgbClr val="102A33"/>
                </a:solidFill>
              </a:rPr>
              <a:t>Need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4FEDD-90D6-4967-A7AF-8F99A62D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812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636B"/>
                </a:solidFill>
              </a:defRPr>
            </a:pPr>
            <a:r>
              <a:rPr sz="1200" b="0" i="0">
                <a:solidFill>
                  <a:srgbClr val="47636B"/>
                </a:solidFill>
              </a:rPr>
              <a:t>What decision is being supported?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88A43-D9DD-44D2-8A80-70DBFD83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28750"/>
            <a:ext cx="51435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2A2F5B-D4F5-440D-AED8-CC534056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002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5B1B5-3486-417A-B90B-BB461064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954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65CB6-B0AC-4DAD-8142-9B2A496C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422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33"/>
                </a:solidFill>
              </a:defRPr>
            </a:pPr>
            <a:r>
              <a:rPr sz="1575" b="1" i="0">
                <a:solidFill>
                  <a:srgbClr val="102A33"/>
                </a:solidFill>
              </a:rPr>
              <a:t>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4539E-FC30-495B-AAB7-9BFD5EEF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812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636B"/>
                </a:solidFill>
              </a:defRPr>
            </a:pPr>
            <a:r>
              <a:rPr sz="1200" b="0" i="0">
                <a:solidFill>
                  <a:srgbClr val="47636B"/>
                </a:solidFill>
              </a:rPr>
              <a:t>What is present, missing or unreliable?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FDFD7D-0353-47B5-89F7-2AF84D70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51435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C5FDD6-5AFF-4A59-969A-18804C0A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6C8DC2-827B-40C8-86D4-5014F659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BA5100-740E-444C-9E65-734DC042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0"/>
            <a:ext cx="422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33"/>
                </a:solidFill>
              </a:defRPr>
            </a:pPr>
            <a:r>
              <a:rPr sz="1575" b="1" i="0">
                <a:solidFill>
                  <a:srgbClr val="102A33"/>
                </a:solidFill>
              </a:rPr>
              <a:t>Options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94601B-0013-4B88-ACEA-288A8FE6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099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636B"/>
                </a:solidFill>
              </a:defRPr>
            </a:pPr>
            <a:r>
              <a:rPr sz="1200" b="0" i="0">
                <a:solidFill>
                  <a:srgbClr val="47636B"/>
                </a:solidFill>
              </a:rPr>
              <a:t>What plausible paths should be compared?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6081D9-6409-4893-ABDA-DEF2B70B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57500"/>
            <a:ext cx="51435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E32B4A-7641-4801-9FB3-D51DC79C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89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01AC32-FF9F-45EC-B5BF-BF119911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87ACBF-6434-4C7C-B2D0-6D192621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422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33"/>
                </a:solidFill>
              </a:defRPr>
            </a:pPr>
            <a:r>
              <a:rPr sz="1575" b="1" i="0">
                <a:solidFill>
                  <a:srgbClr val="102A33"/>
                </a:solidFill>
              </a:rPr>
              <a:t>Uncertainty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0EA531-1375-4030-9C9D-DECEDA23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99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636B"/>
                </a:solidFill>
              </a:defRPr>
            </a:pPr>
            <a:r>
              <a:rPr sz="1200" b="0" i="0">
                <a:solidFill>
                  <a:srgbClr val="47636B"/>
                </a:solidFill>
              </a:rPr>
              <a:t>Where could the model be wrong?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CD6308-A2FA-440B-AE5C-E3069567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51435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4BFBFB-ADB4-404B-B93C-7D46CA15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EB2B09-74D2-4F24-8352-90714E2E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C99404-3204-4A3C-A13F-F54C5B95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76750"/>
            <a:ext cx="422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33"/>
                </a:solidFill>
              </a:defRPr>
            </a:pPr>
            <a:r>
              <a:rPr sz="1575" b="1" i="0">
                <a:solidFill>
                  <a:srgbClr val="102A33"/>
                </a:solidFill>
              </a:rPr>
              <a:t>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4A415A-BFF6-48C5-9317-A634B4CA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387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636B"/>
                </a:solidFill>
              </a:defRPr>
            </a:pPr>
            <a:r>
              <a:rPr sz="1200" b="0" i="0">
                <a:solidFill>
                  <a:srgbClr val="47636B"/>
                </a:solidFill>
              </a:rPr>
              <a:t>What is safe, proportionate and reversible?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FFA6C5-AF8D-43FA-ACAA-5A2CE254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86250"/>
            <a:ext cx="51435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0C1A76-1DE6-4D7B-949E-07F5DE60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577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1AF837-1128-4920-8CCE-16117828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316D9A-BCC7-4A26-A536-FA9686BA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76750"/>
            <a:ext cx="422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33"/>
                </a:solidFill>
              </a:defRPr>
            </a:pPr>
            <a:r>
              <a:rPr sz="1575" b="1" i="0">
                <a:solidFill>
                  <a:srgbClr val="102A33"/>
                </a:solidFill>
              </a:rPr>
              <a:t>Ownership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9F0BCA-11CA-4870-AA96-FDBD2E9D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387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636B"/>
                </a:solidFill>
              </a:defRPr>
            </a:pPr>
            <a:r>
              <a:rPr sz="1200" b="0" i="0">
                <a:solidFill>
                  <a:srgbClr val="47636B"/>
                </a:solidFill>
              </a:rPr>
              <a:t>Who validates, communicates and follows up?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37B515-50D5-4F86-B540-A1497146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458E12-54E1-4745-AFDE-E0EC8D7C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47636B"/>
                </a:solidFill>
              </a:defRPr>
            </a:pPr>
            <a:r>
              <a:rPr sz="750" b="1" i="0">
                <a:solidFill>
                  <a:srgbClr val="47636B"/>
                </a:solidFill>
              </a:rPr>
              <a:t>AI Rx · Patient first · Doctor led · AI assisted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F17840-5B90-4666-9A8D-7A166AD0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47636B"/>
                </a:solidFill>
              </a:defRPr>
            </a:pPr>
            <a:r>
              <a:rPr sz="750" b="0" i="0">
                <a:solidFill>
                  <a:srgbClr val="47636B"/>
                </a:solidFill>
              </a:rPr>
              <a:t>Workshop material · Not clinical advice</a:t>
            </a:r>
          </a:p>
        </p:txBody>
      </p:sp>
    </p:spTree>
    <p:extLst>
      <p:ext uri="{BB962C8B-B14F-4D97-AF65-F5344CB8AC3E}">
        <p14:creationId xmlns:p14="http://schemas.microsoft.com/office/powerpoint/2010/main" val="11392105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26A502-2449-4E8A-A123-0CB1B67F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3B199-C0C7-4330-A04F-58210552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45309"/>
                </a:solidFill>
              </a:defRPr>
            </a:pPr>
            <a:r>
              <a:rPr sz="975" b="1" i="0">
                <a:solidFill>
                  <a:srgbClr val="B45309"/>
                </a:solidFill>
              </a:rPr>
              <a:t>FACILITATION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844FF8-F60B-4841-B0F3-CF771B96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02A33"/>
                </a:solidFill>
              </a:defRPr>
            </a:pPr>
            <a:r>
              <a:rPr sz="2700" b="1" i="0">
                <a:solidFill>
                  <a:srgbClr val="102A33"/>
                </a:solidFill>
              </a:rPr>
              <a:t>Run each live demo as a three-act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91D12-F35F-4BA7-B16D-B511F1F0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857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59E0B"/>
                </a:solidFill>
              </a:defRPr>
            </a:pPr>
            <a:r>
              <a:rPr sz="1500" b="1" i="0">
                <a:solidFill>
                  <a:srgbClr val="F59E0B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38A05-DCFB-4920-9676-0A5DA3B6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8C765-71BB-4CF7-A7E4-F82BAB05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B45309"/>
                </a:solidFill>
              </a:defRPr>
            </a:pPr>
            <a:r>
              <a:rPr sz="1050" b="1" i="0">
                <a:solidFill>
                  <a:srgbClr val="B45309"/>
                </a:solidFill>
              </a:rPr>
              <a:t>ACT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DE344-1A59-4ABA-97A9-032ADDB6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02A33"/>
                </a:solidFill>
              </a:defRPr>
            </a:pPr>
            <a:r>
              <a:rPr sz="2175" b="1" i="0">
                <a:solidFill>
                  <a:srgbClr val="102A33"/>
                </a:solidFill>
              </a:rPr>
              <a:t>Before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20803-2971-4105-8651-C81D293F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2781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47636B"/>
                </a:solidFill>
              </a:defRPr>
            </a:pPr>
            <a:r>
              <a:rPr sz="1425" b="0" i="0">
                <a:solidFill>
                  <a:srgbClr val="47636B"/>
                </a:solidFill>
              </a:rPr>
              <a:t>State the patient need, specialty lens, evidence and decision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D1BA2-5BAF-4108-9398-BD85679B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73780-2C89-4013-8B1C-1826F7C0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8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B45309"/>
                </a:solidFill>
              </a:defRPr>
            </a:pPr>
            <a:r>
              <a:rPr sz="1050" b="1" i="0">
                <a:solidFill>
                  <a:srgbClr val="B45309"/>
                </a:solidFill>
              </a:rPr>
              <a:t>ACT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83B1B-9C17-4C4A-BB7E-F22A69DE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74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02A33"/>
                </a:solidFill>
              </a:defRPr>
            </a:pPr>
            <a:r>
              <a:rPr sz="2175" b="1" i="0">
                <a:solidFill>
                  <a:srgbClr val="102A33"/>
                </a:solidFill>
              </a:rPr>
              <a:t>With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D58AA1-8996-46C6-B9CA-A331AEF6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76600"/>
            <a:ext cx="2781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47636B"/>
                </a:solidFill>
              </a:defRPr>
            </a:pPr>
            <a:r>
              <a:rPr sz="1425" b="0" i="0">
                <a:solidFill>
                  <a:srgbClr val="47636B"/>
                </a:solidFill>
              </a:rPr>
              <a:t>Paste the complete prompt. Inspect assumptions, omissions and uncertainty.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43605E-75D2-4677-83DD-4FFD9A46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145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3D7F2D-56C8-4843-A45B-08B3B5DC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BBF24"/>
                </a:solidFill>
              </a:defRPr>
            </a:pPr>
            <a:r>
              <a:rPr sz="1050" b="1" i="0">
                <a:solidFill>
                  <a:srgbClr val="FBBF24"/>
                </a:solidFill>
              </a:rPr>
              <a:t>ACT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F07E45-B329-4C86-8D7C-970EE046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FF7E6"/>
                </a:solidFill>
              </a:defRPr>
            </a:pPr>
            <a:r>
              <a:rPr sz="2175" b="1" i="0">
                <a:solidFill>
                  <a:srgbClr val="FFF7E6"/>
                </a:solidFill>
              </a:rPr>
              <a:t>After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298065-AD5C-4AE2-BF40-701E82A3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76600"/>
            <a:ext cx="2781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DDEFEF"/>
                </a:solidFill>
              </a:defRPr>
            </a:pPr>
            <a:r>
              <a:rPr sz="1425" b="0" i="0">
                <a:solidFill>
                  <a:srgbClr val="DDEFEF"/>
                </a:solidFill>
              </a:rPr>
              <a:t>Compare with doctor judgment, decide the next action and explain it to the patient.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1454F2-B203-4A42-9FE2-3289EFE8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19700"/>
            <a:ext cx="491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B12B7D-F008-4AE5-8B41-92650417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76850"/>
            <a:ext cx="468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THE OUTPUT IS NOT THE ENDPOINT · THE DECISION 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F3402E-1D9E-45EA-A8C0-D7379106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AC9BB0-242E-4401-81E1-173C7B4C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47636B"/>
                </a:solidFill>
              </a:defRPr>
            </a:pPr>
            <a:r>
              <a:rPr sz="750" b="1" i="0">
                <a:solidFill>
                  <a:srgbClr val="47636B"/>
                </a:solidFill>
              </a:rPr>
              <a:t>AI Rx · Patient first · Doctor led · AI assisted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3EDA03-E377-4F37-82E2-00D92078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47636B"/>
                </a:solidFill>
              </a:defRPr>
            </a:pPr>
            <a:r>
              <a:rPr sz="750" b="0" i="0">
                <a:solidFill>
                  <a:srgbClr val="47636B"/>
                </a:solidFill>
              </a:rPr>
              <a:t>Workshop material · Not clinical advice</a:t>
            </a:r>
          </a:p>
        </p:txBody>
      </p:sp>
    </p:spTree>
    <p:extLst>
      <p:ext uri="{BB962C8B-B14F-4D97-AF65-F5344CB8AC3E}">
        <p14:creationId xmlns:p14="http://schemas.microsoft.com/office/powerpoint/2010/main" val="9473547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DF620E-5ED3-410F-A576-B071BA08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9AB64-176D-4E5C-97D3-91D646BC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45309"/>
                </a:solidFill>
              </a:defRPr>
            </a:pPr>
            <a:r>
              <a:rPr sz="975" b="1" i="0">
                <a:solidFill>
                  <a:srgbClr val="B45309"/>
                </a:solidFill>
              </a:rPr>
              <a:t>PRIVACY AND RESPONSIBILITY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2D820-931A-4A6F-96D7-29A2EBF2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02A33"/>
                </a:solidFill>
              </a:defRPr>
            </a:pPr>
            <a:r>
              <a:rPr sz="2700" b="1" i="0">
                <a:solidFill>
                  <a:srgbClr val="102A33"/>
                </a:solidFill>
              </a:rPr>
              <a:t>Consent stays literature-only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216A8-233E-4CE9-AB58-A87CF9A3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857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59E0B"/>
                </a:solidFill>
              </a:defRPr>
            </a:pPr>
            <a:r>
              <a:rPr sz="1500" b="1" i="0">
                <a:solidFill>
                  <a:srgbClr val="F59E0B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1BE77-CAFB-4ABF-95C6-5F6CF15B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4953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2D0F2-EDE3-4E1A-991A-E23C2E70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0F766E"/>
                </a:solidFill>
              </a:defRPr>
            </a:pPr>
            <a:r>
              <a:rPr sz="1950" b="1" i="0">
                <a:solidFill>
                  <a:srgbClr val="0F766E"/>
                </a:solidFill>
              </a:rPr>
              <a:t>Include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C42B0-A5BB-4E21-8D99-45EC208A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02A33"/>
                </a:solidFill>
              </a:defRPr>
            </a:pPr>
            <a:r>
              <a:rPr sz="1575" b="0" i="0">
                <a:solidFill>
                  <a:srgbClr val="102A33"/>
                </a:solidFill>
              </a:rPr>
              <a:t>• Published guidance</a:t>
            </a:r>
          </a:p>
          <a:p xmlns:a="http://schemas.openxmlformats.org/drawingml/2006/main">
            <a:pPr>
              <a:defRPr sz="1575" b="0" i="0">
                <a:solidFill>
                  <a:srgbClr val="102A33"/>
                </a:solidFill>
              </a:defRPr>
            </a:pPr>
            <a:r>
              <a:rPr sz="1575" b="0" i="0">
                <a:solidFill>
                  <a:srgbClr val="102A33"/>
                </a:solidFill>
              </a:rPr>
              <a:t>• Institution-approved templates</a:t>
            </a:r>
          </a:p>
          <a:p xmlns:a="http://schemas.openxmlformats.org/drawingml/2006/main">
            <a:pPr>
              <a:defRPr sz="1575" b="0" i="0">
                <a:solidFill>
                  <a:srgbClr val="102A33"/>
                </a:solidFill>
              </a:defRPr>
            </a:pPr>
            <a:r>
              <a:rPr sz="1575" b="0" i="0">
                <a:solidFill>
                  <a:srgbClr val="102A33"/>
                </a:solidFill>
              </a:rPr>
              <a:t>• Plain-language teaching notes</a:t>
            </a:r>
          </a:p>
          <a:p xmlns:a="http://schemas.openxmlformats.org/drawingml/2006/main">
            <a:pPr>
              <a:defRPr sz="1575" b="0" i="0">
                <a:solidFill>
                  <a:srgbClr val="102A33"/>
                </a:solidFill>
              </a:defRPr>
            </a:pPr>
            <a:r>
              <a:rPr sz="1575" b="0" i="0">
                <a:solidFill>
                  <a:srgbClr val="102A33"/>
                </a:solidFill>
              </a:rPr>
              <a:t>• Clear limitations and review 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88B5B-0DEE-4DEF-8F26-84E21B5F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19250"/>
            <a:ext cx="4953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3C6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5BED6-4BF6-4BCE-822D-2AAC06C2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24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BE123C"/>
                </a:solidFill>
              </a:defRPr>
            </a:pPr>
            <a:r>
              <a:rPr sz="1950" b="1" i="0">
                <a:solidFill>
                  <a:srgbClr val="BE123C"/>
                </a:solidFill>
              </a:rPr>
              <a:t>Do not include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1457C-A13A-42CE-8FCD-9B8C1A43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3365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02A33"/>
                </a:solidFill>
              </a:defRPr>
            </a:pPr>
            <a:r>
              <a:rPr sz="1575" b="0" i="0">
                <a:solidFill>
                  <a:srgbClr val="102A33"/>
                </a:solidFill>
              </a:rPr>
              <a:t>• Patient identifiers</a:t>
            </a:r>
          </a:p>
          <a:p xmlns:a="http://schemas.openxmlformats.org/drawingml/2006/main">
            <a:pPr>
              <a:defRPr sz="1575" b="0" i="0">
                <a:solidFill>
                  <a:srgbClr val="102A33"/>
                </a:solidFill>
              </a:defRPr>
            </a:pPr>
            <a:r>
              <a:rPr sz="1575" b="0" i="0">
                <a:solidFill>
                  <a:srgbClr val="102A33"/>
                </a:solidFill>
              </a:rPr>
              <a:t>• Real consent records</a:t>
            </a:r>
          </a:p>
          <a:p xmlns:a="http://schemas.openxmlformats.org/drawingml/2006/main">
            <a:pPr>
              <a:defRPr sz="1575" b="0" i="0">
                <a:solidFill>
                  <a:srgbClr val="102A33"/>
                </a:solidFill>
              </a:defRPr>
            </a:pPr>
            <a:r>
              <a:rPr sz="1575" b="0" i="0">
                <a:solidFill>
                  <a:srgbClr val="102A33"/>
                </a:solidFill>
              </a:rPr>
              <a:t>• Case-specific legal advice</a:t>
            </a:r>
          </a:p>
          <a:p xmlns:a="http://schemas.openxmlformats.org/drawingml/2006/main">
            <a:pPr>
              <a:defRPr sz="1575" b="0" i="0">
                <a:solidFill>
                  <a:srgbClr val="102A33"/>
                </a:solidFill>
              </a:defRPr>
            </a:pPr>
            <a:r>
              <a:rPr sz="1575" b="0" i="0">
                <a:solidFill>
                  <a:srgbClr val="102A33"/>
                </a:solidFill>
              </a:rPr>
              <a:t>• A substitute for local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D1717-2E4C-40D6-8355-6893A2CA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334000"/>
            <a:ext cx="84391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05E88-E055-4F41-ADC5-0FD57BF8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505450"/>
            <a:ext cx="771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7E6"/>
                </a:solidFill>
              </a:defRPr>
            </a:pPr>
            <a:r>
              <a:rPr sz="1350" b="1" i="0">
                <a:solidFill>
                  <a:srgbClr val="FFF7E6"/>
                </a:solidFill>
              </a:rPr>
              <a:t>Use synthetic cases for teaching. Validate all patient-facing content locally.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0D7C9-9345-4725-A6A7-5C22AD54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B75813-2A76-46CB-80B3-7D85D0A7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47636B"/>
                </a:solidFill>
              </a:defRPr>
            </a:pPr>
            <a:r>
              <a:rPr sz="750" b="1" i="0">
                <a:solidFill>
                  <a:srgbClr val="47636B"/>
                </a:solidFill>
              </a:rPr>
              <a:t>AI Rx · Patient first · Doctor led · AI assisted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3FB564-A6FA-4EA7-8E54-26F2129B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47636B"/>
                </a:solidFill>
              </a:defRPr>
            </a:pPr>
            <a:r>
              <a:rPr sz="750" b="0" i="0">
                <a:solidFill>
                  <a:srgbClr val="47636B"/>
                </a:solidFill>
              </a:rPr>
              <a:t>Workshop material · Not clinical advice</a:t>
            </a:r>
          </a:p>
        </p:txBody>
      </p:sp>
    </p:spTree>
    <p:extLst>
      <p:ext uri="{BB962C8B-B14F-4D97-AF65-F5344CB8AC3E}">
        <p14:creationId xmlns:p14="http://schemas.microsoft.com/office/powerpoint/2010/main" val="12322842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93BC5E-920C-4D5A-BF79-45966C5D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05E44-D998-4F2B-82D8-97C071C1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45309"/>
                </a:solidFill>
              </a:defRPr>
            </a:pPr>
            <a:r>
              <a:rPr sz="975" b="1" i="0">
                <a:solidFill>
                  <a:srgbClr val="B45309"/>
                </a:solidFill>
              </a:rPr>
              <a:t>PUBLICITY AND MARKETING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47EEA-7142-47E5-8C08-009611E2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02A33"/>
                </a:solidFill>
              </a:defRPr>
            </a:pPr>
            <a:r>
              <a:rPr sz="2700" b="1" i="0">
                <a:solidFill>
                  <a:srgbClr val="102A33"/>
                </a:solidFill>
              </a:rPr>
              <a:t>Change the message for the audience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EEF7C-3942-4AC1-8CB7-8415C0B3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857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59E0B"/>
                </a:solidFill>
              </a:defRPr>
            </a:pPr>
            <a:r>
              <a:rPr sz="1500" b="1" i="0">
                <a:solidFill>
                  <a:srgbClr val="F59E0B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45C9D-1D56-4C70-8ECC-7D3425E0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51435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0D2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941E9-4F1D-4417-A7E5-A6F9537E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BBF24"/>
                </a:solidFill>
              </a:defRPr>
            </a:pPr>
            <a:r>
              <a:rPr sz="1800" b="1" i="0">
                <a:solidFill>
                  <a:srgbClr val="FBBF24"/>
                </a:solidFill>
              </a:rPr>
              <a:t>Doctors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96AEA-56D3-408B-AD84-A6BCB9B8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F7E6"/>
                </a:solidFill>
              </a:defRPr>
            </a:pPr>
            <a:r>
              <a:rPr sz="1350" b="0" i="0">
                <a:solidFill>
                  <a:srgbClr val="FFF7E6"/>
                </a:solidFill>
              </a:rPr>
              <a:t>Save time with complete prompts and compare AI reasoning with clinical judgment.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E28D1B-D0BF-405C-98FE-8CE78590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00200"/>
            <a:ext cx="51435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DFB16-D867-4BEB-BDB3-A2825F8E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288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02A33"/>
                </a:solidFill>
              </a:defRPr>
            </a:pPr>
            <a:r>
              <a:rPr sz="1800" b="1" i="0">
                <a:solidFill>
                  <a:srgbClr val="102A33"/>
                </a:solidFill>
              </a:rPr>
              <a:t>Hospital leaders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04FAC-5D04-4848-B1AF-79DF1EF9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8600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7636B"/>
                </a:solidFill>
              </a:defRPr>
            </a:pPr>
            <a:r>
              <a:rPr sz="1350" b="0" i="0">
                <a:solidFill>
                  <a:srgbClr val="47636B"/>
                </a:solidFill>
              </a:rPr>
              <a:t>See where governed AI can support safer, more consistent decisions.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1ABA0-D208-4E3A-88D7-2E9B2BD7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9950"/>
            <a:ext cx="51435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E7022A-3B94-400E-A24E-D91B9A88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02A33"/>
                </a:solidFill>
              </a:defRPr>
            </a:pPr>
            <a:r>
              <a:rPr sz="1800" b="1" i="0">
                <a:solidFill>
                  <a:srgbClr val="102A33"/>
                </a:solidFill>
              </a:rPr>
              <a:t>Educators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54F72-09B8-4663-AF1E-C5F4BC48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7636B"/>
                </a:solidFill>
              </a:defRPr>
            </a:pPr>
            <a:r>
              <a:rPr sz="1350" b="0" i="0">
                <a:solidFill>
                  <a:srgbClr val="47636B"/>
                </a:solidFill>
              </a:rPr>
              <a:t>Teach tacit knowledge through structured AI-versus-Doctor cases.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7B34E6-6D00-42A3-A039-EDFEA07A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09950"/>
            <a:ext cx="51435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9F2CD5-DDF2-4C98-A172-D4F60BF6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02A33"/>
                </a:solidFill>
              </a:defRPr>
            </a:pPr>
            <a:r>
              <a:rPr sz="1800" b="1" i="0">
                <a:solidFill>
                  <a:srgbClr val="102A33"/>
                </a:solidFill>
              </a:rPr>
              <a:t>Researchers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303DBB-A329-4DD1-9D34-B94B0824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7636B"/>
                </a:solidFill>
              </a:defRPr>
            </a:pPr>
            <a:r>
              <a:rPr sz="1350" b="0" i="0">
                <a:solidFill>
                  <a:srgbClr val="47636B"/>
                </a:solidFill>
              </a:rPr>
              <a:t>Turn questions into reproducible evidence workflows with explicit uncertainty.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E61A5C-901A-4D8D-BE0D-6D9D6710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486400"/>
            <a:ext cx="46101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1691E4-6B90-4893-8EF0-AED355FF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435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ONE WORKSHOP · DIFFERENT REASONS TO CARE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14DAB7-C5C7-40AA-A78F-B39F0A89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64E755-364A-4FE3-882B-BF7FFB3E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47636B"/>
                </a:solidFill>
              </a:defRPr>
            </a:pPr>
            <a:r>
              <a:rPr sz="750" b="1" i="0">
                <a:solidFill>
                  <a:srgbClr val="47636B"/>
                </a:solidFill>
              </a:rPr>
              <a:t>AI Rx · Patient first · Doctor led · AI assisted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D5A50A-16D5-46C0-A041-19D8C1C1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47636B"/>
                </a:solidFill>
              </a:defRPr>
            </a:pPr>
            <a:r>
              <a:rPr sz="750" b="0" i="0">
                <a:solidFill>
                  <a:srgbClr val="47636B"/>
                </a:solidFill>
              </a:rPr>
              <a:t>Workshop material · Not clinical advice</a:t>
            </a:r>
          </a:p>
        </p:txBody>
      </p:sp>
    </p:spTree>
    <p:extLst>
      <p:ext uri="{BB962C8B-B14F-4D97-AF65-F5344CB8AC3E}">
        <p14:creationId xmlns:p14="http://schemas.microsoft.com/office/powerpoint/2010/main" val="15465286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2EC23F-C932-44D1-8CA3-41649321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BB6B7-659D-462D-9D4C-FE1C8019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45309"/>
                </a:solidFill>
              </a:defRPr>
            </a:pPr>
            <a:r>
              <a:rPr sz="975" b="1" i="0">
                <a:solidFill>
                  <a:srgbClr val="B45309"/>
                </a:solidFill>
              </a:rPr>
              <a:t>SOFT COPY + HARD COPY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9CE44-0665-422E-AECD-071847B3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02A33"/>
                </a:solidFill>
              </a:defRPr>
            </a:pPr>
            <a:r>
              <a:rPr sz="2700" b="1" i="0">
                <a:solidFill>
                  <a:srgbClr val="102A33"/>
                </a:solidFill>
              </a:rPr>
              <a:t>Give people something they can use tomorrow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8C015-01C3-40D9-A30E-8CFA3360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857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59E0B"/>
                </a:solidFill>
              </a:defRPr>
            </a:pPr>
            <a:r>
              <a:rPr sz="1500" b="1" i="0">
                <a:solidFill>
                  <a:srgbClr val="F59E0B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044C5-BB70-464B-A157-7666F8DA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3190875" cy="347662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0D2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6112D-8746-4D5D-85C5-8918F421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66900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BBF24"/>
                </a:solidFill>
              </a:defRPr>
            </a:pPr>
            <a:r>
              <a:rPr sz="1050" b="1" i="0">
                <a:solidFill>
                  <a:srgbClr val="FBBF24"/>
                </a:solidFill>
              </a:rPr>
              <a:t>PROMPTS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526B6-94DF-4943-984D-233088E6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43150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FF7E6"/>
                </a:solidFill>
              </a:defRPr>
            </a:pPr>
            <a:r>
              <a:rPr sz="2325" b="1" i="0">
                <a:solidFill>
                  <a:srgbClr val="FFF7E6"/>
                </a:solidFill>
              </a:rPr>
              <a:t>323 complete prompts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5D874-4DB7-418F-B750-660360CA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252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DDEFEF"/>
                </a:solidFill>
              </a:defRPr>
            </a:pPr>
            <a:r>
              <a:rPr sz="1425" b="0" i="0">
                <a:solidFill>
                  <a:srgbClr val="DDEFEF"/>
                </a:solidFill>
              </a:rPr>
              <a:t>Visible in one view, copy-ready and specialty filtered.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EA4B7-EF69-4CAE-BE6A-3054B698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571625"/>
            <a:ext cx="3190875" cy="347662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082525-95BC-4016-A264-F48E3A61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866900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B45309"/>
                </a:solidFill>
              </a:defRPr>
            </a:pPr>
            <a:r>
              <a:rPr sz="1050" b="1" i="0">
                <a:solidFill>
                  <a:srgbClr val="B45309"/>
                </a:solidFill>
              </a:rPr>
              <a:t>HANDOUTS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20161-3B96-4DBD-BDFE-4B2C6744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343150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02A33"/>
                </a:solidFill>
              </a:defRPr>
            </a:pPr>
            <a:r>
              <a:rPr sz="2325" b="1" i="0">
                <a:solidFill>
                  <a:srgbClr val="102A33"/>
                </a:solidFill>
              </a:rPr>
              <a:t>Print-ready booklet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C81B2D-8202-4D73-A838-7E0D8195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371850"/>
            <a:ext cx="252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47636B"/>
                </a:solidFill>
              </a:defRPr>
            </a:pPr>
            <a:r>
              <a:rPr sz="1425" b="0" i="0">
                <a:solidFill>
                  <a:srgbClr val="47636B"/>
                </a:solidFill>
              </a:rPr>
              <a:t>HTML and text formats for hard copy or offline use.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7FE92-1C8C-4EFF-8B51-8736301D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571625"/>
            <a:ext cx="3219450" cy="3476625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064FD5-E7D5-483D-AB46-CC1865ED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6690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B45309"/>
                </a:solidFill>
              </a:defRPr>
            </a:pPr>
            <a:r>
              <a:rPr sz="1050" b="1" i="0">
                <a:solidFill>
                  <a:srgbClr val="B45309"/>
                </a:solidFill>
              </a:rPr>
              <a:t>MEDIA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5870C9-657F-4D63-BE96-D288F2F2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43150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02A33"/>
                </a:solidFill>
              </a:defRPr>
            </a:pPr>
            <a:r>
              <a:rPr sz="2325" b="1" i="0">
                <a:solidFill>
                  <a:srgbClr val="102A33"/>
                </a:solidFill>
              </a:rPr>
              <a:t>PPTs + promo GIF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C8293-BBFB-41CA-BA1A-4320AEF7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718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47636B"/>
                </a:solidFill>
              </a:defRPr>
            </a:pPr>
            <a:r>
              <a:rPr sz="1425" b="0" i="0">
                <a:solidFill>
                  <a:srgbClr val="47636B"/>
                </a:solidFill>
              </a:rPr>
              <a:t>Editable teaching decks and animated workshop publicity.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A35355-F9E8-4394-806C-05259322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48300"/>
            <a:ext cx="552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0C85B2-9BB9-4E54-9ADB-D99BF1FD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505450"/>
            <a:ext cx="529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DOWNLOAD EVERYTHING FROM PUBLICITY &amp; PPTs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8A9C02-5BD7-44EE-8AB5-FA695236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D8625E-650A-42FE-B035-51CD219B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47636B"/>
                </a:solidFill>
              </a:defRPr>
            </a:pPr>
            <a:r>
              <a:rPr sz="750" b="1" i="0">
                <a:solidFill>
                  <a:srgbClr val="47636B"/>
                </a:solidFill>
              </a:rPr>
              <a:t>AI Rx · Patient first · Doctor led · AI assisted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F4DFD4-D385-493F-8A91-9237BEEA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47636B"/>
                </a:solidFill>
              </a:defRPr>
            </a:pPr>
            <a:r>
              <a:rPr sz="750" b="0" i="0">
                <a:solidFill>
                  <a:srgbClr val="47636B"/>
                </a:solidFill>
              </a:rPr>
              <a:t>Workshop material · Not clinical advice</a:t>
            </a:r>
          </a:p>
        </p:txBody>
      </p:sp>
    </p:spTree>
    <p:extLst>
      <p:ext uri="{BB962C8B-B14F-4D97-AF65-F5344CB8AC3E}">
        <p14:creationId xmlns:p14="http://schemas.microsoft.com/office/powerpoint/2010/main" val="11049435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EEBCAA-232D-4AC3-9449-9FC59997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4F5E1-D023-469C-9BAF-75A47B02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45309"/>
                </a:solidFill>
              </a:defRPr>
            </a:pPr>
            <a:r>
              <a:rPr sz="975" b="1" i="0">
                <a:solidFill>
                  <a:srgbClr val="B45309"/>
                </a:solidFill>
              </a:rPr>
              <a:t>FACILITATOR TIMING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0BB98-F126-42A9-A3BB-BF20D94D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02A33"/>
                </a:solidFill>
              </a:defRPr>
            </a:pPr>
            <a:r>
              <a:rPr sz="2700" b="1" i="0">
                <a:solidFill>
                  <a:srgbClr val="102A33"/>
                </a:solidFill>
              </a:rPr>
              <a:t>A 90-minute run of show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5B15B-E58B-4339-A90E-733F3AF2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857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59E0B"/>
                </a:solidFill>
              </a:defRPr>
            </a:pPr>
            <a:r>
              <a:rPr sz="1500" b="1" i="0">
                <a:solidFill>
                  <a:srgbClr val="F59E0B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2D998-D225-40F7-858C-C1DDCB95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59E0B"/>
                </a:solidFill>
              </a:defRPr>
            </a:pPr>
            <a:r>
              <a:rPr sz="1350" b="1" i="0">
                <a:solidFill>
                  <a:srgbClr val="F59E0B"/>
                </a:solidFill>
              </a:rPr>
              <a:t>00–10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82B33-EAB0-462F-960C-C32B3288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09700"/>
            <a:ext cx="9144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06B48-8D62-4549-9426-4C2D20D0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552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02A33"/>
                </a:solidFill>
              </a:defRPr>
            </a:pPr>
            <a:r>
              <a:rPr sz="1500" b="1" i="0">
                <a:solidFill>
                  <a:srgbClr val="102A33"/>
                </a:solidFill>
              </a:rPr>
              <a:t>Frame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EA203-F400-43B0-9D46-D271D507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6210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7636B"/>
                </a:solidFill>
              </a:defRPr>
            </a:pPr>
            <a:r>
              <a:rPr sz="1350" b="0" i="0">
                <a:solidFill>
                  <a:srgbClr val="47636B"/>
                </a:solidFill>
              </a:rPr>
              <a:t>Patient need, boundaries, decision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942750-C241-4790-8A22-CE8BA781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59E0B"/>
                </a:solidFill>
              </a:defRPr>
            </a:pPr>
            <a:r>
              <a:rPr sz="1350" b="1" i="0">
                <a:solidFill>
                  <a:srgbClr val="F59E0B"/>
                </a:solidFill>
              </a:rPr>
              <a:t>10–25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09A26-2967-41FB-9817-76265088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33600"/>
            <a:ext cx="9144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38D815-DE10-424C-87DB-05E6E80A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2764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02A33"/>
                </a:solidFill>
              </a:defRPr>
            </a:pPr>
            <a:r>
              <a:rPr sz="1500" b="1" i="0">
                <a:solidFill>
                  <a:srgbClr val="102A33"/>
                </a:solidFill>
              </a:rPr>
              <a:t>Prompt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2A452-970B-492E-A0B1-1EAC372D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8600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7636B"/>
                </a:solidFill>
              </a:defRPr>
            </a:pPr>
            <a:r>
              <a:rPr sz="1350" b="0" i="0">
                <a:solidFill>
                  <a:srgbClr val="47636B"/>
                </a:solidFill>
              </a:rPr>
              <a:t>Copy a complete specialty prompt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41F65D-2B09-4A4C-8147-DFDCEA33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59E0B"/>
                </a:solidFill>
              </a:defRPr>
            </a:pPr>
            <a:r>
              <a:rPr sz="1350" b="1" i="0">
                <a:solidFill>
                  <a:srgbClr val="F59E0B"/>
                </a:solidFill>
              </a:rPr>
              <a:t>25–50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073F3-178B-4EE6-942C-EF84ACC2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9144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2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C7B6A3-2134-4E74-ACEE-DB0298FE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000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BBF24"/>
                </a:solidFill>
              </a:defRPr>
            </a:pPr>
            <a:r>
              <a:rPr sz="1500" b="1" i="0">
                <a:solidFill>
                  <a:srgbClr val="FBBF24"/>
                </a:solidFill>
              </a:rPr>
              <a:t>Case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6D5F32-A922-4132-B56F-6D5AFE3A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0990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F7E6"/>
                </a:solidFill>
              </a:defRPr>
            </a:pPr>
            <a:r>
              <a:rPr sz="1350" b="0" i="0">
                <a:solidFill>
                  <a:srgbClr val="FFF7E6"/>
                </a:solidFill>
              </a:rPr>
              <a:t>AI output vs. doctor diagnosis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D0C13F-B33C-462C-8134-3647A442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59E0B"/>
                </a:solidFill>
              </a:defRPr>
            </a:pPr>
            <a:r>
              <a:rPr sz="1350" b="1" i="0">
                <a:solidFill>
                  <a:srgbClr val="F59E0B"/>
                </a:solidFill>
              </a:rPr>
              <a:t>50–65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DC96D5-864B-44AD-B802-8AE03BFC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81400"/>
            <a:ext cx="9144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D8B6EC-9BF7-4200-940E-E8D6ACE8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242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02A33"/>
                </a:solidFill>
              </a:defRPr>
            </a:pPr>
            <a:r>
              <a:rPr sz="1500" b="1" i="0">
                <a:solidFill>
                  <a:srgbClr val="102A33"/>
                </a:solidFill>
              </a:rPr>
              <a:t>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7C6CE4-E74C-40DC-999E-58175564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3380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7636B"/>
                </a:solidFill>
              </a:defRPr>
            </a:pPr>
            <a:r>
              <a:rPr sz="1350" b="0" i="0">
                <a:solidFill>
                  <a:srgbClr val="47636B"/>
                </a:solidFill>
              </a:rPr>
              <a:t>Apply the six checks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5D51A5-148F-43EF-9A02-A11B1198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59E0B"/>
                </a:solidFill>
              </a:defRPr>
            </a:pPr>
            <a:r>
              <a:rPr sz="1350" b="1" i="0">
                <a:solidFill>
                  <a:srgbClr val="F59E0B"/>
                </a:solidFill>
              </a:rPr>
              <a:t>65–80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8E3DF6-055F-4438-9D2C-65D69A5F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05300"/>
            <a:ext cx="9144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FF8095-F6D7-4E4D-AA2E-5B4E8D97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481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02A33"/>
                </a:solidFill>
              </a:defRPr>
            </a:pPr>
            <a:r>
              <a:rPr sz="1500" b="1" i="0">
                <a:solidFill>
                  <a:srgbClr val="102A33"/>
                </a:solidFill>
              </a:rPr>
              <a:t>Practice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D94EB8-840F-4CBA-AADA-6311EB7E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5770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7636B"/>
                </a:solidFill>
              </a:defRPr>
            </a:pPr>
            <a:r>
              <a:rPr sz="1350" b="0" i="0">
                <a:solidFill>
                  <a:srgbClr val="47636B"/>
                </a:solidFill>
              </a:rPr>
              <a:t>Small-group specialty transfer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A5004C-9324-4AC6-9D1D-3DB381FD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59E0B"/>
                </a:solidFill>
              </a:defRPr>
            </a:pPr>
            <a:r>
              <a:rPr sz="1350" b="1" i="0">
                <a:solidFill>
                  <a:srgbClr val="F59E0B"/>
                </a:solidFill>
              </a:rPr>
              <a:t>80–90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A1D14E-6DB3-42CB-9709-02321359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29200"/>
            <a:ext cx="9144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4856F4-7CE3-4AD9-BDA2-999C6D27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1720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02A33"/>
                </a:solidFill>
              </a:defRPr>
            </a:pPr>
            <a:r>
              <a:rPr sz="1500" b="1" i="0">
                <a:solidFill>
                  <a:srgbClr val="102A33"/>
                </a:solidFill>
              </a:rPr>
              <a:t>Close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8F0B75-247D-4462-A615-00616974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18160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7636B"/>
                </a:solidFill>
              </a:defRPr>
            </a:pPr>
            <a:r>
              <a:rPr sz="1350" b="0" i="0">
                <a:solidFill>
                  <a:srgbClr val="47636B"/>
                </a:solidFill>
              </a:rPr>
              <a:t>Patient-centred action + downloads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87A3DF-6DEA-467E-B1FA-4084535E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37D73E-1168-4A52-AA9D-CE494A7B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47636B"/>
                </a:solidFill>
              </a:defRPr>
            </a:pPr>
            <a:r>
              <a:rPr sz="750" b="1" i="0">
                <a:solidFill>
                  <a:srgbClr val="47636B"/>
                </a:solidFill>
              </a:rPr>
              <a:t>AI Rx · Patient first · Doctor led · AI assisted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4FA292-AA0F-4B55-B4D3-23107E98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47636B"/>
                </a:solidFill>
              </a:defRPr>
            </a:pPr>
            <a:r>
              <a:rPr sz="750" b="0" i="0">
                <a:solidFill>
                  <a:srgbClr val="47636B"/>
                </a:solidFill>
              </a:rPr>
              <a:t>Workshop material · Not clinical advice</a:t>
            </a:r>
          </a:p>
        </p:txBody>
      </p:sp>
    </p:spTree>
    <p:extLst>
      <p:ext uri="{BB962C8B-B14F-4D97-AF65-F5344CB8AC3E}">
        <p14:creationId xmlns:p14="http://schemas.microsoft.com/office/powerpoint/2010/main" val="115090296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3f5245defa45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FC3C0-BBB2-4BFE-9F85-023A4FAF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7627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ED367-54CA-4868-96B6-3107C439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BBF24"/>
                </a:solidFill>
              </a:defRPr>
            </a:pPr>
            <a:r>
              <a:rPr sz="1125" b="1" i="0">
                <a:solidFill>
                  <a:srgbClr val="FBBF24"/>
                </a:solidFill>
              </a:rPr>
              <a:t>AI RX · CLINICAL PRACTICE &amp; PATIENT 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85F928-13BA-412C-B8C3-5DCCF26B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381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125" b="1" i="0">
                <a:solidFill>
                  <a:srgbClr val="FFF7E6"/>
                </a:solidFill>
              </a:defRPr>
            </a:pPr>
            <a:r>
              <a:rPr sz="4125" b="1" i="0">
                <a:solidFill>
                  <a:srgbClr val="FFF7E6"/>
                </a:solidFill>
              </a:rPr>
              <a:t>AI Rx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EF3D5-7C1C-4358-A5CD-943438D5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DDEFEF"/>
                </a:solidFill>
              </a:defRPr>
            </a:pPr>
            <a:r>
              <a:rPr sz="1875" b="0" i="0">
                <a:solidFill>
                  <a:srgbClr val="DDEFEF"/>
                </a:solidFill>
              </a:rPr>
              <a:t>AI tools for clinical practice and patient care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62A71-AB6E-4400-BA1D-A06CA7C2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ECC06-537F-4542-BDAB-3D76D9F1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B45309"/>
                </a:solidFill>
              </a:defRPr>
            </a:pPr>
            <a:r>
              <a:rPr sz="900" b="1" i="0">
                <a:solidFill>
                  <a:srgbClr val="B45309"/>
                </a:solidFill>
              </a:rPr>
              <a:t>CLOSE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5535B-9149-4067-A1C8-2CB20024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572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CE12D-C99F-46BB-8028-B4DAB4EB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38775"/>
            <a:ext cx="800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7E6"/>
                </a:solidFill>
              </a:defRPr>
            </a:pPr>
            <a:r>
              <a:rPr sz="1650" b="1" i="0">
                <a:solidFill>
                  <a:srgbClr val="FFF7E6"/>
                </a:solidFill>
              </a:rPr>
              <a:t>One question: what patient-centred decision will you support better tomorrow?</a:t>
            </a:r>
          </a:p>
        </p:txBody>
      </p:sp>
    </p:spTree>
    <p:extLst>
      <p:ext uri="{BB962C8B-B14F-4D97-AF65-F5344CB8AC3E}">
        <p14:creationId xmlns:p14="http://schemas.microsoft.com/office/powerpoint/2010/main" val="8131592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2026-08-03T10:57:20.9630000Z</dcterms:created>
  <dcterms:modified xsi:type="dcterms:W3CDTF">2026-08-03T10:57:20.9630000Z</dcterms:modified>
</coreProperties>
</file>